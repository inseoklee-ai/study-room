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spc="300" kern="0" dirty="0">
                <a:solidFill>
                  <a:srgbClr val="CFE0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대단원 2 · AIFFEL_LMS · 바이브코딩 작업대 ⑤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26517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터미널 vs 셸 vs 커널 vs 프롬프트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이름의 역사부터 명령이 움직이는 길까지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🗺️ 용어 시험이 아니라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지도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2498598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E3DAC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03504" y="1481328"/>
            <a:ext cx="238887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끝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21792" y="1773936"/>
            <a:ext cx="2352294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터미널  글자 입출력 창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3047238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3412998" y="1371600"/>
            <a:ext cx="2498598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A5A8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67862" y="1481328"/>
            <a:ext cx="238887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껍데기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486150" y="1773936"/>
            <a:ext cx="2352294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셸  명령을 해석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911596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277356" y="1371600"/>
            <a:ext cx="2498598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A65A3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32220" y="1481328"/>
            <a:ext cx="238887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알맹이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350508" y="1773936"/>
            <a:ext cx="2352294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커널  자원 중개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775954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9141714" y="1371600"/>
            <a:ext cx="2498598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C8A15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96578" y="1481328"/>
            <a:ext cx="238887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재촉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9214866" y="1773936"/>
            <a:ext cx="2352294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프롬프트  입력 대기 표시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2615184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20" name="Shape 18"/>
          <p:cNvSpPr/>
          <p:nvPr/>
        </p:nvSpPr>
        <p:spPr>
          <a:xfrm>
            <a:off x="548640" y="2615184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21" name="Text 19"/>
          <p:cNvSpPr/>
          <p:nvPr/>
        </p:nvSpPr>
        <p:spPr>
          <a:xfrm>
            <a:off x="786384" y="2615184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이 구분은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command not found가 왜 나왔는지, 설치한 도구를 왜 못 찾는지, Claude Code가 어느 층에서 멈췄는지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더 정확하게 읽기 위한 지도다.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📜 이름의 역사 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끝·껍데기·알맹이·재촉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2645664"/>
        </p:xfrm>
        <a:graphic>
          <a:graphicData uri="http://schemas.openxmlformats.org/drawingml/2006/table">
            <a:tbl>
              <a:tblPr/>
              <a:tblGrid>
                <a:gridCol w="5545836"/>
                <a:gridCol w="5545836"/>
              </a:tblGrid>
              <a:tr h="52913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뜻과 유래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52913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터미널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통신에서 선로의 끝단(말단 장치). 1960~70년대 대형 컴퓨터에 연결하던 키보드·화면·텔레타이프. 오늘 macOS Terminal 등은 그 입출력을 재현하는 에뮬레이터 — 명령의 뜻은 보통 해석하지 않는다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913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커널을 감싼 바깥 껍데기. 사람이 쓴 글을 해석해 프로그램을 실행. Thompson(1971)·Bourne(/bin/sh, 1977)·bash(1989)·zsh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913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커널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알맹이·핵심. CPU·메모리·파일·네트워크 자원을 프로그램이 쓰게 중개하는 운영체제의 중심. 보통 직접 문장을 쓰지 않는다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913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프롬프트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'재촉' — 셸이 "입력을 기다린다"고 내보내는 표시($ % user@computer:~$). 명령어가 아니라 복사 대상이 아니다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4163568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6" name="Shape 3"/>
          <p:cNvSpPr/>
          <p:nvPr/>
        </p:nvSpPr>
        <p:spPr>
          <a:xfrm>
            <a:off x="548640" y="4163568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4"/>
          <p:cNvSpPr/>
          <p:nvPr/>
        </p:nvSpPr>
        <p:spPr>
          <a:xfrm>
            <a:off x="786384" y="4163568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셸은 한 앱 이름이 아니라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명령을 해석하는 프로그램의 계열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문서에 % pwd라면 %는 예시 프롬프트이고 실제 입력할 것은 pwd.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🔌 층 사이엔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PTY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있다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E3DAC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03504" y="1481328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창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21792" y="1773936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터미널 앱  (master 쪽)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002024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367784" y="1371600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C8A15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22648" y="1481328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가상 문자 장치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440936" y="1773936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PTY  master·slave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821168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8186928" y="1371600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A5A8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41792" y="1481328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해석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8260080" y="1773936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셸  (slave 쪽)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48640" y="2615184"/>
            <a:ext cx="11091672" cy="71704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터미널과 셸은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직접 손을 잡지 않는다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master·slave로 짝을 이룬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PTY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(pseudoterminal, 의사 터미널)를 통해 글자를 주고받는다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구조 덕분에 창 속 프로그램은 여전히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전통적인 물리 터미널에 연결된 것처럼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동작한다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548640" y="3478530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7" name="Shape 15"/>
          <p:cNvSpPr/>
          <p:nvPr/>
        </p:nvSpPr>
        <p:spPr>
          <a:xfrm>
            <a:off x="548640" y="3478530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478530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터미널과 셸은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것이 아니며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프롬프트는 셸이 터미널에 그려 달라고 한 작은 안내문이다.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⚙️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pwd 한 줄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거치는 일곱 단계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506839"/>
          </a:xfrm>
          <a:prstGeom prst="roundRect">
            <a:avLst>
              <a:gd name="adj" fmla="val 16237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6656" y="1469571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676656" y="1469571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15568" y="1371600"/>
            <a:ext cx="10378440" cy="506839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터미널이 키 입력을 받는다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p·w·d·Enter를 화면에 보이고 PTY master로 전달('창'의 일)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969879"/>
            <a:ext cx="11091672" cy="506839"/>
          </a:xfrm>
          <a:prstGeom prst="roundRect">
            <a:avLst>
              <a:gd name="adj" fmla="val 16237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6656" y="206785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0" name="Text 8"/>
          <p:cNvSpPr/>
          <p:nvPr/>
        </p:nvSpPr>
        <p:spPr>
          <a:xfrm>
            <a:off x="676656" y="206785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15568" y="1969879"/>
            <a:ext cx="10378440" cy="506839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PTY가 셸에 글자를 넘긴다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화면에 보인다고 아직 실행된 건 아니다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568158"/>
            <a:ext cx="11091672" cy="506839"/>
          </a:xfrm>
          <a:prstGeom prst="roundRect">
            <a:avLst>
              <a:gd name="adj" fmla="val 16237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6656" y="2666129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4" name="Text 12"/>
          <p:cNvSpPr/>
          <p:nvPr/>
        </p:nvSpPr>
        <p:spPr>
          <a:xfrm>
            <a:off x="676656" y="2666129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15568" y="2568158"/>
            <a:ext cx="10378440" cy="506839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셸이 문장을 파싱한다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공백·따옴표·변수·파이프(|)·리디렉션(&gt;) 문법 해석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166437"/>
            <a:ext cx="11091672" cy="506839"/>
          </a:xfrm>
          <a:prstGeom prst="roundRect">
            <a:avLst>
              <a:gd name="adj" fmla="val 16237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326440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8" name="Text 16"/>
          <p:cNvSpPr/>
          <p:nvPr/>
        </p:nvSpPr>
        <p:spPr>
          <a:xfrm>
            <a:off x="676656" y="326440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15568" y="3166437"/>
            <a:ext cx="10378440" cy="506839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명령의 위치를 찾는다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외부 프로그램이면 $PATH를 앞에서부터. 단 pwd는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내장 명령(builtin)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이기도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3764715"/>
            <a:ext cx="11091672" cy="506839"/>
          </a:xfrm>
          <a:prstGeom prst="roundRect">
            <a:avLst>
              <a:gd name="adj" fmla="val 16237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76656" y="3862687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22" name="Text 20"/>
          <p:cNvSpPr/>
          <p:nvPr/>
        </p:nvSpPr>
        <p:spPr>
          <a:xfrm>
            <a:off x="676656" y="3862687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115568" y="3764715"/>
            <a:ext cx="10378440" cy="506839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fork와 exec로 새 프로그램 시작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자기 복제(fork) 뒤 실행 파일 올리기(exec). 셸은 남고 새 프로그램은 독립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48640" y="4362994"/>
            <a:ext cx="11091672" cy="506839"/>
          </a:xfrm>
          <a:prstGeom prst="roundRect">
            <a:avLst>
              <a:gd name="adj" fmla="val 16237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76656" y="446096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26" name="Text 24"/>
          <p:cNvSpPr/>
          <p:nvPr/>
        </p:nvSpPr>
        <p:spPr>
          <a:xfrm>
            <a:off x="676656" y="446096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115568" y="4362994"/>
            <a:ext cx="10378440" cy="506839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시스템 콜로 커널에 요청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파일 읽기·현재 디렉터리 확인은 커널에. 커널이 권한 확인 후 자원 중개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48640" y="4961273"/>
            <a:ext cx="11091672" cy="506839"/>
          </a:xfrm>
          <a:prstGeom prst="roundRect">
            <a:avLst>
              <a:gd name="adj" fmla="val 16237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76656" y="5059245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30" name="Text 28"/>
          <p:cNvSpPr/>
          <p:nvPr/>
        </p:nvSpPr>
        <p:spPr>
          <a:xfrm>
            <a:off x="676656" y="5059245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115568" y="4961273"/>
            <a:ext cx="10378440" cy="506839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stdout이 화면에 돌아온다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결과가 PTY를 거쳐 터미널로. pwd의 경로 한 줄이 이렇게 온 결과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548640" y="5614416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33" name="Shape 31"/>
          <p:cNvSpPr/>
          <p:nvPr/>
        </p:nvSpPr>
        <p:spPr>
          <a:xfrm>
            <a:off x="548640" y="5614416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34" name="Text 32"/>
          <p:cNvSpPr/>
          <p:nvPr/>
        </p:nvSpPr>
        <p:spPr>
          <a:xfrm>
            <a:off x="786384" y="5614416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명령이 똑같이 복제되는 건 아니다(내장/외부/파이프에 따라 다름). 그러나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"창이 곧 명령어"보다 훨씬 정확한 기본 모형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🙅 흔한 오해 — </a:t>
            </a:r>
            <a:pPr indent="0" marL="0">
              <a:buNone/>
            </a:pPr>
            <a:r>
              <a:rPr lang="en-US" sz="24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검은 창 하나가 전부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993267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가장 흔한 오해 =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"터미널 = 검은 창 = 명령어"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검은색은 꾸미기일 뿐 — 밝은 테마 Windows Terminal도, VS Code 아래 패널도 터미널이 될 수 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층은 다르다 — 터미널은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글자 입출력 인터페이스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셸은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 글자로 된 명령을 해석하는 프로그램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명령은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실제로 실행되는 내장 기능 또는 별도 프로그램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511171"/>
            <a:ext cx="11091672" cy="769620"/>
          </a:xfrm>
          <a:prstGeom prst="roundRect">
            <a:avLst>
              <a:gd name="adj" fmla="val 7129"/>
            </a:avLst>
          </a:prstGeom>
          <a:solidFill>
            <a:srgbClr val="F2EDE4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511171"/>
            <a:ext cx="54864" cy="76962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5"/>
          <p:cNvSpPr/>
          <p:nvPr/>
        </p:nvSpPr>
        <p:spPr>
          <a:xfrm>
            <a:off x="786384" y="2511171"/>
            <a:ext cx="10707624" cy="7696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오류도 이 지도로 나눈다 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창이 안 열리면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터미널 앱 문제,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command not found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는 셸의 명령 탐색 또는 설치 문제,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Permission denied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는 커널이 관리하는 권한 규칙.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🔄 터미널과 셸은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서로 바꿀 수 있다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126949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macOS Terminal 창에서도 bash를 실행하면 bash 세션을 시작할 수 있고, 같은 zsh를 iTerm2·macOS Terminal·VS Code 터미널에서 쓸 수 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그래서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"iTerm2를 설치했으니 bash가 설치됐다"거나 "VS Code를 열었으니 셸이 바뀌었다"는 결론은 틀리다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조합이 자유롭다(iTerm2+zsh, VS Code 터미널+bash 모두 가능)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787396"/>
            <a:ext cx="11091672" cy="769620"/>
          </a:xfrm>
          <a:prstGeom prst="roundRect">
            <a:avLst>
              <a:gd name="adj" fmla="val 7129"/>
            </a:avLst>
          </a:prstGeom>
          <a:solidFill>
            <a:srgbClr val="F2EDE4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787396"/>
            <a:ext cx="54864" cy="76962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5"/>
          <p:cNvSpPr/>
          <p:nvPr/>
        </p:nvSpPr>
        <p:spPr>
          <a:xfrm>
            <a:off x="786384" y="2787396"/>
            <a:ext cx="10707624" cy="7696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또 하나의 오해 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프롬프트 기호를 명령에 포함하는 것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$ npm --version에서 $는 설명 표시일 수 있으니 복사할 땐 npm --version만. 프롬프트는 사용자 이름·폴더·Git 브랜치까지 보이게 바꿀 수 있어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사람마다 다르게 보이는 게 정상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🔬 실습 관찰 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 층을 직접 찾기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1339596"/>
          </a:xfrm>
          <a:prstGeom prst="roundRect">
            <a:avLst>
              <a:gd name="adj" fmla="val 3413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54864" cy="1339596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68096" y="1463040"/>
            <a:ext cx="10707624" cy="115671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echo $SHELL     # 로그인 셸로 설정된 경로 (지금 실행 중과 반드시 같진 않음)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echo $0         # 현재 실행 중인 셸 이름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tty             # 현재 세션이 연결된 터미널 장치 경로 (예: /dev/ttys001)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which pwd       # $PATH를 따라 찾은 pwd 위치 (type pwd 도 함께)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echo $PATH      # 외부 명령을 찾을 때 순서대로 보는 디렉터리 목록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2857500"/>
            <a:ext cx="11091672" cy="769620"/>
          </a:xfrm>
          <a:prstGeom prst="roundRect">
            <a:avLst>
              <a:gd name="adj" fmla="val 7129"/>
            </a:avLst>
          </a:prstGeom>
          <a:solidFill>
            <a:srgbClr val="F2EDE4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2857500"/>
            <a:ext cx="54864" cy="76962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2857500"/>
            <a:ext cx="10707624" cy="7696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🪟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Windows PowerShell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은 위가 그대로 안 돈다 — $PSVersionTable(지금 셸 확인)·Get-Command pwd(어디서 찾았나)·$env:Path(탐색 경로).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관찰 포인트는 같다 — 지금 내 셸이 무엇이고, 명령을 어디서 찾는가.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3773424"/>
            <a:ext cx="11091672" cy="37680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Node·Claude Code를 설치했는데 command not found가 나오면, 설치 실패뿐 아니라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파일이 $PATH 목록에 없는 경우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 살핀다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📍 Claude Code는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어디에 있는가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914400"/>
          </a:xfrm>
          <a:prstGeom prst="roundRect">
            <a:avLst>
              <a:gd name="adj" fmla="val 14000"/>
            </a:avLst>
          </a:prstGeom>
          <a:solidFill>
            <a:srgbClr val="3F6B5F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371600"/>
            <a:ext cx="10177272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터미널도, 셸도, 커널도 아니다일반적으로 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C8A1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셸 위에서 실행되는 프로그램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48640" y="2432304"/>
            <a:ext cx="11091672" cy="993267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터미널 창에서 claude를 입력하면 셸이 $PATH에서 claude를 찾아 새 프로세스를 실행한다. Claude Code는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 셸 환경과 권한 안에서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파일을 읽고 명령 실행을 요청하고 결과·오류를 보여준다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AI가 "명령을 실행했다"고 말할 때도, 실제로는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여러 층을 지나는 것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48640" y="3571875"/>
            <a:ext cx="11091672" cy="769620"/>
          </a:xfrm>
          <a:prstGeom prst="roundRect">
            <a:avLst>
              <a:gd name="adj" fmla="val 7129"/>
            </a:avLst>
          </a:prstGeom>
          <a:solidFill>
            <a:srgbClr val="F2EDE4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3571875"/>
            <a:ext cx="54864" cy="76962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3571875"/>
            <a:ext cx="10707624" cy="7696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AI가 강력해도 권한과 현재 작업 폴더를 초월하지는 않는다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그래서 오류 한 줄·pwd·echo $SHELL·실행한 명령을 함께 주는 습관이 안전하고 재현 가능한 도움을 요청하는 방법.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🩺 오류를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층으로 나눠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본다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1536192"/>
        </p:xfrm>
        <a:graphic>
          <a:graphicData uri="http://schemas.openxmlformats.org/drawingml/2006/table">
            <a:tbl>
              <a:tblPr/>
              <a:tblGrid>
                <a:gridCol w="5545836"/>
                <a:gridCol w="5545836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증상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먼저 의심할 층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claude: command not found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설치 또는 $PATH(셸의 명령 탐색)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EACCES·Permission denied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운영체제가 관리하는 파일 권한(커널)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글자가 깨지거나 창 자체가 멈춤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터미널 앱·인코딩·PTY 연결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3054096"/>
            <a:ext cx="11091672" cy="914400"/>
          </a:xfrm>
          <a:prstGeom prst="roundRect">
            <a:avLst>
              <a:gd name="adj" fmla="val 14000"/>
            </a:avLst>
          </a:prstGeom>
          <a:solidFill>
            <a:srgbClr val="3F6B5F"/>
          </a:solidFill>
          <a:ln/>
        </p:spPr>
      </p:sp>
      <p:sp>
        <p:nvSpPr>
          <p:cNvPr id="6" name="Text 3"/>
          <p:cNvSpPr/>
          <p:nvPr/>
        </p:nvSpPr>
        <p:spPr>
          <a:xfrm>
            <a:off x="1005840" y="3054096"/>
            <a:ext cx="10177272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줄의 오류가 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C8A1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어느 층의 문제인지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갈린다세 층을 분리해 설명하면 AI도 다음 행동을 좁힌다</a:t>
            </a:r>
            <a:endParaRPr lang="en-US" sz="1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이 덱의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정리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2688336"/>
        </p:xfrm>
        <a:graphic>
          <a:graphicData uri="http://schemas.openxmlformats.org/drawingml/2006/table">
            <a:tbl>
              <a:tblPr/>
              <a:tblGrid>
                <a:gridCol w="5545836"/>
                <a:gridCol w="5545836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층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한 문장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터미널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글자 입출력 창(에뮬레이터) — 명령의 뜻은 보통 해석하지 않는다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사람 글을 해석해 프로그램을 실행하는 프로그램 계열(zsh·bash)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커널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자원을 중개하는 알맹이 — 시스템 콜로 요청받는다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프롬프트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입력 대기 표시 — 복사 대상이 아니다($ %)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PTY·7단계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창≠셸, 그 사이 PTY. pwd 한 줄이 일곱 단계를 거친다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Claude Code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셸 위 프로그램 — 권한·작업 폴더를 초월하지 않는다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이해도 확인 질문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612648" y="137160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37160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Q1.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터미널·셸·커널·프롬프트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 역할을 한 줄씩 구분하면?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2648" y="189136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891360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189136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Q2.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터미널과 셸 사이의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PTY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는 무엇을 하나?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2648" y="241112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411120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241112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Q3.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$ npm --version에서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$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복사하면 안 되는 이유는?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2648" y="2930881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2930881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5" name="Text 13"/>
          <p:cNvSpPr/>
          <p:nvPr/>
        </p:nvSpPr>
        <p:spPr>
          <a:xfrm>
            <a:off x="786384" y="2930881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Q4.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command not found와 Permission denied는 각각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어느 층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의심하나?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2648" y="3450641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450641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450641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Q5.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Claude Code는 이 층들 중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어디에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있나?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정답 &amp; 해설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612648" y="137160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37160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A1.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터미널=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글자 입출력 창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셸=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명령을 해석·실행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커널=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자원 중개(알맹이)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프롬프트=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 대기 표시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(명령어 아님).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2648" y="189136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891360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189136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A2.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터미널과 셸은 직접 안 잡고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master·slave 짝의 가상 문자 장치(PTY)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글자를 주고받아, 창 속 프로그램이 물리 터미널에 연결된 것처럼 동작하게 한다.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2648" y="241112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411120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241112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A3.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$는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 대기 프롬프트(설명 표시)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 뿐 명령의 일부가 아니다 — 실제 입력할 것은 npm --version.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2648" y="2930881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2930881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5" name="Text 13"/>
          <p:cNvSpPr/>
          <p:nvPr/>
        </p:nvSpPr>
        <p:spPr>
          <a:xfrm>
            <a:off x="786384" y="2930881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A4.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command not found는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셸의 명령 탐색($PATH)·설치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Permission denied는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커널이 관리하는 파일 권한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2648" y="3450641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450641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450641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A5.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셸 위에서 실행되는 프로그램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셸이 $PATH에서 claude를 찾아 실행하며, 셸의 권한·작업 폴더 안에서 동작한다.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6517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문장, 네 역할 🗺️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터미널 vs 셸 vs 커널 vs 프롬프트 — 여기까지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2026-08-13T22:52:14Z</dcterms:created>
  <dcterms:modified xsi:type="dcterms:W3CDTF">2026-08-13T22:52:14Z</dcterms:modified>
</cp:coreProperties>
</file>