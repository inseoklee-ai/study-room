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FE0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단원 4 · AI는 문서와 사진에서 무엇을 꺼낼까 (2)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글자를 꺼내는 길, OCR 조립 라인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픽셀에서 시작해 구조로 끝나는 네 정거장 · 그리고 어디서 깨지나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🗺️ 오늘의 흐름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13975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PDF인데 왜 못 읽나 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레이어 vs 스캔 이미지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그리고 OCR의 '광학'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OCR 도구의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계보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 PaddleOCR라는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조립 가능한 도구 상자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조립 라인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정거장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(전처리·검출·인식·레이아웃)과 각각이 깨지는 곳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한국어가 특히 어려운 이유, 그리고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전파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915412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915412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2915412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한 줄: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OCR은 하나의 알고리즘이 아니라 여러 정거장을 잇는 파이프라인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이고, 화살표가 한 방향이라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앞의 실수가 뒤에서 다른 얼굴로 번집니다.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❓ "PDF인데 왜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못 읽나요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PDF는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완전히 다른 두 물건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같은 확장자로 담습니다.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29943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976247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레이어 PDF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49808" y="2305431"/>
            <a:ext cx="4960620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워드·한글 "PDF로 내보내기" → "이 위치·글꼴에 이 문자열" 정보가 그대로.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인식이 아니라 읽기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(파이썬 몇 줄)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77356" y="1829943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78524" y="1976247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스캔 이미지를 감싼 PDF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478524" y="2305431"/>
            <a:ext cx="4960620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복합기·휴대폰 촬영 →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글자가 하나도 없음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픽셀 덩어리뿐. 사람 눈엔 같아 보여도 프로그램엔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텍스트파일 vs 사진파일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만큼 다름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073527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3073527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3" name="Text 11"/>
          <p:cNvSpPr/>
          <p:nvPr/>
        </p:nvSpPr>
        <p:spPr>
          <a:xfrm>
            <a:off x="786384" y="3073527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문서 AI의 첫 갈림길: 이 문서는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글자를 꺼내면 되는가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아니면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글자를 알아봐야 하는가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뒤쪽에만 붙은 이름이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OCR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OCR에서 가장 중요한 글자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 (Optical)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914400"/>
          </a:xfrm>
          <a:prstGeom prst="roundRect">
            <a:avLst>
              <a:gd name="adj" fmla="val 14000"/>
            </a:avLst>
          </a:prstGeom>
          <a:solidFill>
            <a:srgbClr val="3F6B5F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371600"/>
            <a:ext cx="10177272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Optical Character Recognition 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광학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문자 인식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2432304"/>
            <a:ext cx="11091672" cy="71704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파일에 저장된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문자 코드를 꺼내는 게 아니라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종이에 반사된 빛의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밝고 어두움을 측정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모양을 문자로 판정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발상은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컴퓨터보다 먼저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나왔습니다 — 처음부터 "빛으로 종이를 본다"는 생각 위에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48640" y="329565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3295650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3295650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레이어 PDF = 광학이 필요 없는 일 · 스캔 이미지 PDF = 광학이 필요한 일.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OCR 도구는 어떻게 지금 모습이 되었나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통제와 인식 알고리즘이 함께 변해온 계보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826764" y="5486400"/>
            <a:ext cx="4535424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26764" y="5486400"/>
            <a:ext cx="45354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1912 → Tesseract → 문서 AI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📜 빛으로 글자를 읽으려는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 년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10572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1912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푸르니에 달브 — 밝고 어두운 무늬를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소리로 바꿔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사람이 해석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1920s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미리 만든 글자 모양과 포개는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템플릿 매칭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1950~60s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전용 글꼴·정해진 서식으로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입력을 기계에 맞춤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575179"/>
            <a:ext cx="11091672" cy="1116330"/>
          </a:xfrm>
          <a:prstGeom prst="roundRect">
            <a:avLst>
              <a:gd name="adj" fmla="val 737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2721483"/>
            <a:ext cx="106893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Tesseract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49808" y="3050667"/>
            <a:ext cx="10689336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HP 1980~90s 개발 → 2005 오픈소스 → 2006~2017 Google. 3세대까지 전통 엔진,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4부터 LSTM 신경망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(글자 줄의 앞뒤 맥락). 지금도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명령줄 한 줄로 로컬 실행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클라우드에 안 보내는 가벼운 기준선.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🔧 인식 방식의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변화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1920240"/>
        </p:xfrm>
        <a:graphic>
          <a:graphicData uri="http://schemas.openxmlformats.org/drawingml/2006/table">
            <a:tbl>
              <a:tblPr/>
              <a:tblGrid>
                <a:gridCol w="3697224"/>
                <a:gridCol w="3697224"/>
                <a:gridCol w="3697224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기계가 한 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남은 한계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템플릿 매칭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입력과 저장한 글자 모양 비교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글꼴·크기·기울기에 약함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특징 기반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획·모서리 특징으로 문자 분류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글자 분리·규칙 설계 필요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LSTM 행 인식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글자 줄의 맥락을 함께 사용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표·구조는 별도 분석 필요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문서 AI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글자·좌표·레이아웃·표를 함께 구조화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모델·언어·배포에 따라 결과 달라짐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438144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3438144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" y="3438144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이름이 비슷해도 같은 종류가 아닙니다 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Tesseract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=OCR 엔진,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PaddleOCR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=여러 모델·파이프라인을 묶은 도구 모음,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PaddleOCR-VL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=문서 구조를 생성하는 시각-언어 모델 계열.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PaddleOCR — 모델 하나가 아니라 도구 상자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조립 가능한 파이프라인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338828" y="5486400"/>
            <a:ext cx="3511296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38828" y="5486400"/>
            <a:ext cx="3511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재현하려면 무엇을 남겨야 하나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🧰 PP-OCR의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흐름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= 전통 OCR의 현대식 구현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516636"/>
          </a:xfrm>
          <a:prstGeom prst="roundRect">
            <a:avLst>
              <a:gd name="adj" fmla="val 15929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47447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47447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371600"/>
            <a:ext cx="10378440" cy="5166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탐지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글자가 있을 픽셀 영역 찾기 (초기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계열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탐지기)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979676"/>
            <a:ext cx="11091672" cy="516636"/>
          </a:xfrm>
          <a:prstGeom prst="roundRect">
            <a:avLst>
              <a:gd name="adj" fmla="val 15929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" y="208254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208254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15568" y="1979676"/>
            <a:ext cx="10378440" cy="5166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 판별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잘라낸 글자 줄이 0°인지 180° 뒤집혔는지 교정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587752"/>
            <a:ext cx="11091672" cy="516636"/>
          </a:xfrm>
          <a:prstGeom prst="roundRect">
            <a:avLst>
              <a:gd name="adj" fmla="val 15929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69062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69062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15568" y="2587752"/>
            <a:ext cx="10378440" cy="5166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인식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줄 이미지를 문자열로 (CRNN → SVTR·CTC로 발전)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195828"/>
            <a:ext cx="11091672" cy="516636"/>
          </a:xfrm>
          <a:prstGeom prst="roundRect">
            <a:avLst>
              <a:gd name="adj" fmla="val 15929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6656" y="329869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" y="329869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15568" y="3195828"/>
            <a:ext cx="10378440" cy="5166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조립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문자열·점수·원본 좌표를 묶어 다음 단계로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858768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3858768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22" name="Text 20"/>
          <p:cNvSpPr/>
          <p:nvPr/>
        </p:nvSpPr>
        <p:spPr>
          <a:xfrm>
            <a:off x="786384" y="3858768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"PaddleOCR을 썼다"만으로는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불가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어떤 탐지/인식 모델, 어떤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언어 가중치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어떤 버전인지까지 남겨야 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🌏 가중치 선택과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중간 결과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10572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최신이라는 이유만으로 아무 가중치나 X —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언어 지원 범위가 모델마다 다름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수업 한국어 기준선 = 한국어를 명시 지원하는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PP-OCRv5 다국어 인식 모델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전 코딩 에이전트에게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모델명·버전·언어 설정을 run_manifest.json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기록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575179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575179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2575179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이 구조의 장점 =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중간 결과를 볼 수 있다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것. 영역을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찾았는지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/ 찾았지만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잘못 읽었는지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/ 읽은 걸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잘못 묶었는지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단계별로 확인. 단, 표 병합·의미는 기본 OCR로 안 됨 →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레이아웃 분석기·문서 VLM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이어짐.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조립 라인의 네 정거장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정거장은 자기 일만 하고 다음으로 넘긴다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082796" y="5486400"/>
            <a:ext cx="4023360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082796" y="548640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전처리 · 검출 · 인식 · 레이아웃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🏭 전통 OCR의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조립 라인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정거장마다 다루는 대상이 바뀝니다. 픽셀에서 시작해 구조로 끝납니다.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29943"/>
            <a:ext cx="11091672" cy="1005840"/>
          </a:xfrm>
          <a:prstGeom prst="roundRect">
            <a:avLst>
              <a:gd name="adj" fmla="val 8182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829943"/>
            <a:ext cx="10543032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STEP 1전처리기울기 보정 · 잡음 제거 · 이진화 ▸ STEP 2검출글자가 어디 있나 줄·단어 상자 찾기 ▸ STEP 3인식그 조각이 무슨 글자인가 상자 → 문자열 ▸ STEP 4레이아웃 분석제목·표·항목-값 문자열 → 구조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982087"/>
            <a:ext cx="11091672" cy="1005840"/>
          </a:xfrm>
          <a:prstGeom prst="roundRect">
            <a:avLst>
              <a:gd name="adj" fmla="val 8182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982087"/>
            <a:ext cx="10543032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깨끗해진 흑백 픽셀좌표가 붙은 상자 목록상자별 문자열 + 신뢰도표 · 문단 · 필드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4134231"/>
            <a:ext cx="11091672" cy="1005840"/>
          </a:xfrm>
          <a:prstGeom prst="roundRect">
            <a:avLst>
              <a:gd name="adj" fmla="val 8182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4134231"/>
            <a:ext cx="10543032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화살표는 한 방향입니다. 뒤 정거장은 앞 정거장의 판단을 되돌릴 수 없습니다.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🧽 1번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전처리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(원본 → 정리된 이미지)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10572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기울기 보정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1도만 삐뚤어도 A4 폭 210mm를 가로지르며 줄이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3.7mm 어긋남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(본문 한 줄 높이). 각도별로 돌려 가로 검은 픽셀 대비가 최대인 각을 찾음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이진화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픽셀을 흑/백으로 확정. 오츠(1979)는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페이지 전체에 한 경계값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반사 구역 글자가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통째로 사라짐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실무는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적응형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(작은 창별 경계값)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잡음 제거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세게 지우면 가는 획도 사라짐. 마침표가 사라지면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1.5 → 15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(열 배!)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575179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575179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2575179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눈에 안 띄지만 실무 실패의 상당 부분이 여기서 시작.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전처리가 지운 획은 존재한 적 없는 획이 되고, 이후 어느 단계에서도 복구되지 않습니다.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🔲 2번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검출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(이미지 → 좌표 목록)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10572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옛날: 검은 픽셀을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가로·세로로 투영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줄·단어 공백을 찾음(깨끗한 문서엔 훌륭)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문제: 문서엔 글자만 있는 게 아님 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 테두리·도장·밑줄·로고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검출기를 혼란에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딥러닝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CNN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작은 필터를 이미지 위로 밀며 국소 무늬 → 조합. 위치 무관하게 반응.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DBNet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경계값 자체를 학습해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이진화를 신경망 안으로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575179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575179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2575179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성격은 그대로 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단계가 놓친 영역은 다음 단계에 아예 전달되지 않습니다.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검출되지 않은 글자는 인식기 입장에서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존재하지 않습니다.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🔤 3번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인식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(조각 → 문자열)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13335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1세대 템플릿 매칭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정답 모양을 겹쳐 제일 잘 맞는 것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2세대 특징 추출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고리 개수·세로획 수로 분류(8=고리 2, 6=1, 1=0). 글꼴 바뀌어도 특징은 유지 → Tesseract가 이 계열에서 출발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3세대 CRNN(2015)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글자를 하나씩 자르는 걸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포기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(손글씨·이탤릭·한글 경계가 어려움). 줄 통째로 받아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CNN→양방향 LSTM→CTC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 경계를 학습 문제 안으로 흡수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85140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85140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285140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인식기가 보는 세계는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여전히 좁습니다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주어지는 건 잘려 나온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 하나뿐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그 줄이 표 헤더인지 각주인지, 왼쪽 칸 항목명이 뭔지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모릅니다(알 필요 없게 설계).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🧩 4번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레이아웃 분석 · 파싱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(문자열 → 구조)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흩어진 문자열을 표의 행·열, 제목·본문으로 묶는 일 =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파싱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자주 무너지는 정거장.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29943"/>
            <a:ext cx="11091672" cy="667512"/>
          </a:xfrm>
          <a:prstGeom prst="roundRect">
            <a:avLst>
              <a:gd name="adj" fmla="val 6849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829943"/>
            <a:ext cx="54864" cy="667512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1921383"/>
            <a:ext cx="10707624" cy="4846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(x=112, y=340) "계약 금액"      (x=318, y=340) "32,000,000"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(x=112, y=372) "부가세"          (x=318, y=372) "3,200,000"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2643759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기계에겐 숫자와 문자열이 흩어져 있을 뿐 → "y 비슷=같은 행, x 비슷=같은 열" 규칙을 세워야 하는데, 조금만 복잡해지면 무너집니다.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102102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3102102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1" name="Text 9"/>
          <p:cNvSpPr/>
          <p:nvPr/>
        </p:nvSpPr>
        <p:spPr>
          <a:xfrm>
            <a:off x="786384" y="3102102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 병합 / 선 없는 표 / 다단 조판 / 페이지 넘는 표 — 모두 이 규칙을 깹니다.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표를 HTML로 생성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하거나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행·열로 쪼갠 뒤 병합 셀 되붙이기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연구가 있지만,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병합 셀 있는 복잡한 표는 여전히 어렵습니다.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📐 좌표 규칙이 </a:t>
            </a:r>
            <a:pPr indent="0" marL="0">
              <a:buNone/>
            </a:pPr>
            <a:r>
              <a:rPr lang="en-US" sz="24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무너지는 두 장면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병합된 셀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항목명의 y좌표가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값 사이에 걸쳐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어느 행에도 안 붙습니다.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7356" y="1371600"/>
            <a:ext cx="5362956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8524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테두리 없는 표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78524" y="184708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열을 가르는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선이 없어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여백 폭만으로 경계를 추정 →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자릿수가 달라지면 흔들립니다.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한국어의 어려움, 그리고 오류 전파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오차가 성질을 바꾸며 번진다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466844" y="5486400"/>
            <a:ext cx="3255264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466844" y="5486400"/>
            <a:ext cx="32552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되짚을 수 있어야 하나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🇰🇷 한국어 문서가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특히 어려운 이유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10572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글자 종류가 압도적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알파벳은 100여 개, 한글은 조합 음절만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11,172자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(초성19×중성21×종성28). 미학습 음절을 만날 확률이 높음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글자 안에 구조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강/캉, 믿/민은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획 하나 차이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전처리가 가는 획 하나 지우면 다른 글자. 자모 배치도 음절마다 다름(가·그·광)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한자·영문이 섞임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법률·공문서의 한자, 기술 문서의 영문 약어·단위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575179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575179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2575179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분야별: 진료 기록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손글씨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관공서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붉은 직인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(획 가림), 팩스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저해상도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(&lt;200dpi), 휴대폰 촬영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원근 왜곡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📉 오류는 사라지지 않고 </a:t>
            </a:r>
            <a:pPr indent="0" marL="0">
              <a:buNone/>
            </a:pPr>
            <a:r>
              <a:rPr lang="en-US" sz="24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쌓입니다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1150620"/>
          </a:xfrm>
          <a:prstGeom prst="roundRect">
            <a:avLst>
              <a:gd name="adj" fmla="val 11126"/>
            </a:avLst>
          </a:prstGeom>
          <a:solidFill>
            <a:srgbClr val="3F6B5F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371600"/>
            <a:ext cx="10177272" cy="1150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단계 성공률 98%라면  0.98 × 0.98 × 0.98 × 0.98 ≈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92.2%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100장 중 약 8장이 어긋남 — 실측이 아니라 '작은 실패가 연쇄된다'는 조건부 모형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2668524"/>
            <a:ext cx="11091672" cy="71704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곤란한 건 오류가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성질을 바꾸며 번진다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것 — 앞 단계는 자기가 틀렸다는 걸 뒤에 알려주지 않음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현상이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전파(error propagation)</a:t>
            </a:r>
            <a:endParaRPr lang="en-US" sz="14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🔥 작은 오차가 </a:t>
            </a:r>
            <a:pPr indent="0" marL="0">
              <a:buNone/>
            </a:pPr>
            <a:r>
              <a:rPr lang="en-US" sz="24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자라나는 방식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 단계는 자기가 틀렸다는 사실을 뒤 단계에 알려 주지 않습니다.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29943"/>
            <a:ext cx="11091672" cy="1005840"/>
          </a:xfrm>
          <a:prstGeom prst="roundRect">
            <a:avLst>
              <a:gd name="adj" fmla="val 8182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829943"/>
            <a:ext cx="10543032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전처리기울기 1도 어긋남 – 검출줄 상자가 두 줄에 걸침 – 인식두 줄이 섞인 문자열 – 레이아웃금액 칸에 부가세가 들어감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982087"/>
            <a:ext cx="11091672" cy="1005840"/>
          </a:xfrm>
          <a:prstGeom prst="roundRect">
            <a:avLst>
              <a:gd name="adj" fmla="val 8182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982087"/>
            <a:ext cx="10543032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최종 결과만 보는 사람은 최초 원인이 "기울기 1도"였다는 것을 알 수 없습니다.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4134231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4134231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1" name="Text 9"/>
          <p:cNvSpPr/>
          <p:nvPr/>
        </p:nvSpPr>
        <p:spPr>
          <a:xfrm>
            <a:off x="786384" y="4134231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그래서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중간 산출물(좌표·신뢰도)을 남기는 일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실무 핵심 기술. 감사 추적이 필요한 업무에서 전통 OCR이 선택되는 이유 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틀리지 않아서가 아니라 왜 틀렸는지 되짚을 수 있어서.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🧵 글자는 다 있는데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관계가 사라질 수 있습니다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71704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OCR이 글자를 정확히 읽었다고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문서를 이해한 건 아님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평평한 텍스트 한 줄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내보내면 제목·본문·표의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 관계가 사라짐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"계약 금액"과 "부가세"가 다 있어도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숫자가 어느 항목인지 틀릴 수 있음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234946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234946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2234946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그렇다고 OCR이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항상 좌표를 버리는 건 아닙니다.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Tesseract의 TSV·hOCR, PaddleOCR의 원시 결과는 좌표를 함께 보존.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좌표를 버리는 것은 OCR이 아니라 '평탄화된 출력 방식'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 감사 가능한 시스템은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페이지 번호·상자 좌표·원문 조각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함께 남깁니다.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📌 이것만은 꼭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7문장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506839"/>
          </a:xfrm>
          <a:prstGeom prst="roundRect">
            <a:avLst>
              <a:gd name="adj" fmla="val 1623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469571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469571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371600"/>
            <a:ext cx="10378440" cy="506839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PDF는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레이어 vs 스캔 이미지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두 종류 — 뒤쪽만 OCR(광학)이 필요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969879"/>
            <a:ext cx="11091672" cy="506839"/>
          </a:xfrm>
          <a:prstGeom prst="roundRect">
            <a:avLst>
              <a:gd name="adj" fmla="val 1623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" y="206785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206785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15568" y="1969879"/>
            <a:ext cx="10378440" cy="506839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OCR = 문자 코드가 아니라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빛의 명암으로 모양을 문자로 판정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568158"/>
            <a:ext cx="11091672" cy="506839"/>
          </a:xfrm>
          <a:prstGeom prst="roundRect">
            <a:avLst>
              <a:gd name="adj" fmla="val 1623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666129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666129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15568" y="2568158"/>
            <a:ext cx="10378440" cy="506839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조립 라인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정거장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전처리 → 검출 → 인식 → 레이아웃 (픽셀 → 구조)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166437"/>
            <a:ext cx="11091672" cy="506839"/>
          </a:xfrm>
          <a:prstGeom prst="roundRect">
            <a:avLst>
              <a:gd name="adj" fmla="val 1623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6656" y="326440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" y="326440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15568" y="3166437"/>
            <a:ext cx="10378440" cy="506839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전처리가 지운 획은 복구 불가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검출이 놓친 글자는 인식기에 존재하지 않음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764715"/>
            <a:ext cx="11091672" cy="506839"/>
          </a:xfrm>
          <a:prstGeom prst="roundRect">
            <a:avLst>
              <a:gd name="adj" fmla="val 1623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" y="3862687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22" name="Text 20"/>
          <p:cNvSpPr/>
          <p:nvPr/>
        </p:nvSpPr>
        <p:spPr>
          <a:xfrm>
            <a:off x="676656" y="3862687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15568" y="3764715"/>
            <a:ext cx="10378440" cy="506839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인식기는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 하나만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봄 → 표 구조·항목값 잇기는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레이아웃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 몫(가장 자주 붕괴)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4362994"/>
            <a:ext cx="11091672" cy="506839"/>
          </a:xfrm>
          <a:prstGeom prst="roundRect">
            <a:avLst>
              <a:gd name="adj" fmla="val 1623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6656" y="446096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446096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115568" y="4362994"/>
            <a:ext cx="10378440" cy="506839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화살표가 한 방향 →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전파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성질을 바꾸며 번짐(1도 → 부가세 오배치)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48640" y="4961273"/>
            <a:ext cx="11091672" cy="506839"/>
          </a:xfrm>
          <a:prstGeom prst="roundRect">
            <a:avLst>
              <a:gd name="adj" fmla="val 1623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6656" y="5059245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30" name="Text 28"/>
          <p:cNvSpPr/>
          <p:nvPr/>
        </p:nvSpPr>
        <p:spPr>
          <a:xfrm>
            <a:off x="676656" y="5059245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115568" y="4961273"/>
            <a:ext cx="10378440" cy="506839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전통 OCR의 값어치 =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중간 산출물로 왜 틀렸는지 되짚을 수 있음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(좌표 보존은 출력 설계의 문제)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이해도 확인 질문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같은 PDF인데 왜 어떤 건 AI가 못 읽나? 두 종류와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갈림길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은?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88617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88617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88617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OCR의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'Optical(광학)'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뜻하는 것은? 텍스트 레이어 PDF와 무엇이 다른가?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05634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05634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05634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조립 라인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정거장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과, 화살표가 한 방향이라 생기는 근본 문제는?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22651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22651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22651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전처리의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잡음 제거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"조용히 위험한" 이유는? (예시 하나)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" y="3439668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439668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439668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Q5.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4번 정거장(레이아웃·파싱)이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무너지는 대표 경우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들은?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2648" y="3956685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956685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3956685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Q6.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전파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란? 전통 OCR이 감사 업무에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여전히 선택되는 이유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는?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정답 &amp; 해설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PDF가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레이어(문자열 내장)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스캔 이미지(픽셀뿐)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두 종류라서. 첫 갈림길 =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글자를 꺼내면 되나 vs 알아봐야 하나.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88617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88617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88617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파일 속 문자 코드가 아니라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빛의 밝고 어두움을 측정해 모양을 문자로 판정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텍스트 레이어 PDF는 광학이 필요 없는 '읽기'.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05634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05634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05634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전처리·검출·인식·레이아웃. 화살표가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방향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이라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 단계의 실수를 뒤가 복구 못 함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(오류 전파).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22651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22651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22651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세게 지우면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가는 획도 사라져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다른 글자가 됨. 예: 마침표가 사라지면 1.5 → 15(열 배). 지운 획은 복구 불가.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" y="3439668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439668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439668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A5.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 병합 · 선 없는 표 · 다단 조판 · 페이지 넘는 표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"y 비슷=행, x 비슷=열" 규칙이 깨짐.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2648" y="3956685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956685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3956685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A6.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앞의 작은 오류가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성질을 바꾸며 뒤로 번지는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것. 전통 OCR은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중간 산출물(좌표·신뢰도)로 어디서 틀렸는지 되짚을 수 있어서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선택됨.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수고하셨습니다 🙌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— 사진 쪽으로 건너가 위치를 짚고 경계를 긋는 일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2026-07-31T05:46:52Z</dcterms:created>
  <dcterms:modified xsi:type="dcterms:W3CDTF">2026-07-31T05:46:52Z</dcterms:modified>
</cp:coreProperties>
</file>