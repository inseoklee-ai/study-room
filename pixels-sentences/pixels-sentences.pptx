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3 · 강의 6 · 멀티모달 (2)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픽셀을 문장처럼 다룬다는 발상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이미지와 텍스트가 같은 좌표계로 들어와, 거리가 곧 의미가 된다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오늘의 여정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A5A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3504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21792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CLIP · 공유 임베딩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002024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67784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F6B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22648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440936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번역이 아니라 정렬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821168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186928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C8A1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41792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60080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붙이는 3갈래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8640" y="2615184"/>
            <a:ext cx="11091672" cy="13975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VLM과 CLIP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이미지와 텍스트를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공간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놓는 대조 학습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멀티모달이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번역이 아니라 정렬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인지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모달리티를 붙이는 방식이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갈래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갈린다 (연결형·공유 임베딩형·네이티브)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마지막에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업무의 시각 자료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표를 채워 본다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48640" y="4158996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4158996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4158996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오늘의 한 문장 — "가깝다"가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가능한 거리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되는 순간, 이미지와 문장은 서로를 검색할 수 있게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⏪ 30초 복습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강의에서 우리는 이미지에서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글자(OCR)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물체(탐지·분할)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꺼내는 도구들을 봤습니다.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829943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도구들은 이미지 →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추출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강했다 ("무엇이 있나")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하지만 "이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문장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같은 뜻인가?"는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질문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오늘은 이미지와 언어가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애초에 어떻게 한 자리에서 만나는가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본다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303352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303352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303352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추출이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"무엇이 있나"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라면, 오늘의 정렬은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"무엇과 무엇이 같은 의미인가"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다룹니다.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그림을 보는 챗봇이 아닙니다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이미지와 문장을 같은 공간에 놓는 발상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10812" y="5486400"/>
            <a:ext cx="376732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10812" y="5486400"/>
            <a:ext cx="3767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 · 대조 학습 · CLIP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🔗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이미지와 언어를 잇는다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3975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 언어 모델(VLM)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이미지와 언어를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작업 안에서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연결하는 모델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핵심 흐름 =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 학습(contrastive learning)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이미지와 텍스트를 같은 의미 공간에 가깝게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감독 신호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써서, 이미지 분류를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 지시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다룰 수 있게 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발상을 크게 민 것이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CLIP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OpenAI, 2021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91541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91541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91541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CLIP은 인터넷에서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이미지–설명글 쌍 4억 개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모아, "어느 설명이 어느 그림에 붙는가"를 맞히도록 학습했습니다.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🧩 인코더 · 임베딩 · 임베딩 공간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828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828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인코더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무언가를 받아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목록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바꾸는 부분. 그림을 넣어도, 문장을 넣어도 숫자 몇백 개가 나온다.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87296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939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9397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87296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임베딩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그렇게 나온 숫자 목록. (앞으로 나올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"표현"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같은 것을 가리키는 말)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02992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7096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7096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602992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임베딩 공간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 임베딩들이 놓이는 좌표계.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27355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27355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27355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인코더와 텍스트 인코더가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있다는 사실보다, 둘의 결과가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가능한 같은 공간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온다는 점이 핵심입니다.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🌐 같은 좌표계,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거리가 곧 의미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99339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인코더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2322576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3A5A8C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322576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 사진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834640" y="1371600"/>
            <a:ext cx="457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291840" y="1426464"/>
            <a:ext cx="5239512" cy="1901952"/>
          </a:xfrm>
          <a:prstGeom prst="roundRect">
            <a:avLst>
              <a:gd name="adj" fmla="val 4327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1499616"/>
            <a:ext cx="5239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임베딩 공간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49470" y="2256739"/>
            <a:ext cx="1267176" cy="118872"/>
          </a:xfrm>
          <a:prstGeom prst="line">
            <a:avLst/>
          </a:prstGeom>
          <a:noFill/>
          <a:ln w="22225">
            <a:solidFill>
              <a:srgbClr val="3F6B5F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4449470" y="2256739"/>
            <a:ext cx="2826776" cy="475488"/>
          </a:xfrm>
          <a:prstGeom prst="line">
            <a:avLst/>
          </a:prstGeom>
          <a:noFill/>
          <a:ln w="15875">
            <a:solidFill>
              <a:srgbClr val="8A8378"/>
            </a:solidFill>
            <a:prstDash val="dash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4367174" y="2174443"/>
            <a:ext cx="164592" cy="164592"/>
          </a:xfrm>
          <a:prstGeom prst="ellipse">
            <a:avLst/>
          </a:prstGeom>
          <a:solidFill>
            <a:srgbClr val="3A5A8C"/>
          </a:solidFill>
          <a:ln w="19050">
            <a:solidFill>
              <a:srgbClr val="F2ED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09390" y="2329891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 사진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34350" y="2293315"/>
            <a:ext cx="164592" cy="164592"/>
          </a:xfrm>
          <a:prstGeom prst="ellipse">
            <a:avLst/>
          </a:prstGeom>
          <a:solidFill>
            <a:srgbClr val="6B4D8C"/>
          </a:solidFill>
          <a:ln w="19050">
            <a:solidFill>
              <a:srgbClr val="F2ED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76566" y="2448763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dog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193951" y="2649931"/>
            <a:ext cx="164592" cy="164592"/>
          </a:xfrm>
          <a:prstGeom prst="ellipse">
            <a:avLst/>
          </a:prstGeom>
          <a:solidFill>
            <a:srgbClr val="8A8378"/>
          </a:solidFill>
          <a:ln w="19050">
            <a:solidFill>
              <a:srgbClr val="F2ED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36167" y="2805379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531352" y="1371600"/>
            <a:ext cx="457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988552" y="170992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인코더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125712" y="2039112"/>
            <a:ext cx="2377440" cy="457200"/>
          </a:xfrm>
          <a:prstGeom prst="roundRect">
            <a:avLst>
              <a:gd name="adj" fmla="val 16000"/>
            </a:avLst>
          </a:prstGeom>
          <a:solidFill>
            <a:srgbClr val="6B4D8C"/>
          </a:solidFill>
          <a:ln/>
        </p:spPr>
      </p:sp>
      <p:sp>
        <p:nvSpPr>
          <p:cNvPr id="21" name="Text 19"/>
          <p:cNvSpPr/>
          <p:nvPr/>
        </p:nvSpPr>
        <p:spPr>
          <a:xfrm>
            <a:off x="9125712" y="2039112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photo of a dog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125712" y="2606040"/>
            <a:ext cx="2377440" cy="457200"/>
          </a:xfrm>
          <a:prstGeom prst="roundRect">
            <a:avLst>
              <a:gd name="adj" fmla="val 16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25712" y="26060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photo of a cat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3529584"/>
            <a:ext cx="11091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쌍 = 가깝게 오답 쌍 = 멀게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3986784"/>
            <a:ext cx="11091672" cy="56921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쌍(개 사진 ↔ "a photo of a dog")의 거리는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가깝게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오답 쌍(개 사진 ↔ "a photo of a cat")은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멀게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학습한다. 거리가 의미가 된 공간에서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모달리티끼리 짝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찾는다.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CLIP은 이렇게 배우고, 이렇게 쓴다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3453384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22225">
            <a:solidFill>
              <a:srgbClr val="3A5A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3504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대조 사전학습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21792" y="1773936"/>
            <a:ext cx="3307080" cy="9235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이미지·텍스트 쌍 N개 →  I·T 행렬에서 </a:t>
            </a:r>
            <a:pPr algn="ctr"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대각선(정답 쌍)</a:t>
            </a:r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가깝게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002024" y="1371600"/>
            <a:ext cx="3657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67784" y="1371600"/>
            <a:ext cx="3453384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22225">
            <a:solidFill>
              <a:srgbClr val="6B4D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22648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라벨을 문장으로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440936" y="1773936"/>
            <a:ext cx="3307080" cy="9235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plane·car·dog… →  "A photo of a </a:t>
            </a:r>
            <a:pPr algn="ctr"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6B4D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{object}</a:t>
            </a:r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821168" y="1371600"/>
            <a:ext cx="3657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186928" y="1371600"/>
            <a:ext cx="3453384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22225">
            <a:solidFill>
              <a:srgbClr val="3F6B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41792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제로샷 예측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60080" y="1773936"/>
            <a:ext cx="3307080" cy="9235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이미지 하나를 여러 문장과  비교 → </a:t>
            </a:r>
            <a:pPr algn="ctr"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가까운 것</a:t>
            </a:r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선택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93522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293522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293522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때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적 없는 이미지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"빨간 자동차" vs "파란 하늘" 사이에서 더 가까운 쪽에 놓입니다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거리가 곧 의미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된 것입니다.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번역이 아니라 정렬입니다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이미지를 설명문으로 바꾸는 게 아니다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30852" y="5486400"/>
            <a:ext cx="312724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30852" y="5486400"/>
            <a:ext cx="3127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· 공유 의미 공간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🔀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이라는 오해,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이라는 실제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408676" cy="2542032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2700">
            <a:solidFill>
              <a:srgbClr val="A65A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63040"/>
            <a:ext cx="52257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흔한 오해 — 번역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94944" y="1828800"/>
            <a:ext cx="5116068" cy="554736"/>
          </a:xfrm>
          <a:prstGeom prst="roundRect">
            <a:avLst>
              <a:gd name="adj" fmla="val 824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28800"/>
            <a:ext cx="5042916" cy="554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2365248"/>
            <a:ext cx="54086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94944" y="2548128"/>
            <a:ext cx="5116068" cy="554736"/>
          </a:xfrm>
          <a:prstGeom prst="roundRect">
            <a:avLst>
              <a:gd name="adj" fmla="val 824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548128"/>
            <a:ext cx="5042916" cy="554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</a:t>
            </a:r>
            <a:pPr algn="ctr" indent="0" marL="0">
              <a:buNone/>
            </a:pPr>
            <a:r>
              <a:rPr lang="en-US" sz="10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설명문</a:t>
            </a:r>
            <a:pPr algn="ctr" indent="0" marL="0">
              <a:buNone/>
            </a:pPr>
            <a:r>
              <a:rPr lang="en-US" sz="10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번역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3084576"/>
            <a:ext cx="54086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94944" y="3267456"/>
            <a:ext cx="5116068" cy="554736"/>
          </a:xfrm>
          <a:prstGeom prst="roundRect">
            <a:avLst>
              <a:gd name="adj" fmla="val 824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267456"/>
            <a:ext cx="5042916" cy="554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LLM이 설명문을 읽고 답함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31636" y="1371600"/>
            <a:ext cx="5408676" cy="2542032"/>
          </a:xfrm>
          <a:prstGeom prst="roundRect">
            <a:avLst>
              <a:gd name="adj" fmla="val 3237"/>
            </a:avLst>
          </a:prstGeom>
          <a:solidFill>
            <a:srgbClr val="FFFFFF"/>
          </a:solidFill>
          <a:ln w="12700">
            <a:solidFill>
              <a:srgbClr val="3F6B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23076" y="1463040"/>
            <a:ext cx="52257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실제 흐름 — 정렬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77940" y="1828800"/>
            <a:ext cx="5116068" cy="374904"/>
          </a:xfrm>
          <a:prstGeom prst="roundRect">
            <a:avLst>
              <a:gd name="adj" fmla="val 12195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14516" y="1828800"/>
            <a:ext cx="5042916" cy="3749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/ 음성 / 텍스트 조각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31636" y="2185416"/>
            <a:ext cx="54086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77940" y="2368296"/>
            <a:ext cx="5116068" cy="374904"/>
          </a:xfrm>
          <a:prstGeom prst="roundRect">
            <a:avLst>
              <a:gd name="adj" fmla="val 12195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14516" y="2368296"/>
            <a:ext cx="5042916" cy="3749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모달리티를 </a:t>
            </a:r>
            <a:pPr algn="ctr" indent="0" marL="0">
              <a:buNone/>
            </a:pPr>
            <a:r>
              <a:rPr lang="en-US" sz="10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</a:t>
            </a:r>
            <a:pPr algn="ctr" indent="0" marL="0">
              <a:buNone/>
            </a:pPr>
            <a:r>
              <a:rPr lang="en-US" sz="10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바꿈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231636" y="2724912"/>
            <a:ext cx="54086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77940" y="2907792"/>
            <a:ext cx="5116068" cy="374904"/>
          </a:xfrm>
          <a:prstGeom prst="roundRect">
            <a:avLst>
              <a:gd name="adj" fmla="val 12195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14516" y="2907792"/>
            <a:ext cx="5042916" cy="3749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의미 공간</a:t>
            </a:r>
            <a:pPr algn="ctr" indent="0" marL="0">
              <a:buNone/>
            </a:pPr>
            <a:r>
              <a:rPr lang="en-US" sz="10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함께 추론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231636" y="3264408"/>
            <a:ext cx="540867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377940" y="3447288"/>
            <a:ext cx="5116068" cy="374904"/>
          </a:xfrm>
          <a:prstGeom prst="roundRect">
            <a:avLst>
              <a:gd name="adj" fmla="val 12195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14516" y="3447288"/>
            <a:ext cx="5042916" cy="3749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출력(텍스트·음성·이미지)으로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8640" y="4059936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 방식도 현실 제품에서 쓰일 수 있습니다. 다만 2026년의 핵심 흐름은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넓습니다.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📦 "표현"은 복사가 아니라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표현(representation)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원본을 그대로 복사한 게 아니라,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업무에 쓸 특징을 숫자 벡터로 압축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것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이미지는 픽셀 그대로가 아니라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으로, 음성은 파형 그대로가 아니라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발화·억양·속도·배경음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단서로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정렬이 강한 이유: "가깝다"가 느낌이 아니라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가능한 거리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이기 때문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575179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짝이 맞는 이미지와 문장의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거리가 가장 가까워지도록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학습→ 텍스트 없이도 "이 사진과 비슷한 느낌의 녹음"을 찾을 수 있다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하지만 "가깝다"가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"같다"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아니다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배운 거리 =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데이터의 통계적 관계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 업무에서 진짜 중요한 차이를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늘 잡진 못한다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정렬된 공간은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출발점이지 판단의 끝이 아니다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234946"/>
            <a:ext cx="11091672" cy="1116330"/>
          </a:xfrm>
          <a:prstGeom prst="roundRect">
            <a:avLst>
              <a:gd name="adj" fmla="val 737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381250"/>
            <a:ext cx="106893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🗂️ 회의 안건 비유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49808" y="2710434"/>
            <a:ext cx="10689336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부서의 보고서를 하나의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 안건 양식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바꾸는 일과 비슷합니다. 영업팀은 고객 발언, 품질팀은 사진, 운영팀은 로그를 가져옵니다. 중요한 것은 "모두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문서 형식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인가"가 아니라,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의사결정 질문에 답하도록 정렬됐는가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붙이는 방식에 따라 셋으로 갈립니다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이름이지만, 증거를 처리하는 방식은 세 갈래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082796" y="5486400"/>
            <a:ext cx="4023360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82796" y="548640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연결형 · 공유 임베딩형 · 네이티브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🧭 멀티모달,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갈래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설계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080260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5200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조심할 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연결형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이미지·음성 전용 인코더가 LLM에 정보를 넘긴다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언어 모델 활용에 좋고, 오픈소스 생태계에 많다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세부 시각·음성 단서가 언어로 옮겨지며 사라질 수 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공유 임베딩형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모달리티를 같은 의미 공간에 놓는다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이미지-음성 검색, 텍스트-이미지 매칭 등 교차 검색에 강하다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가깝다는 것이 곧 정답은 아니다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네이티브 멀티모달형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텍스트·이미지·음성을 한 모델의 입력·출력 흐름 안에서 다룬다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대화 중 화면·소리·문맥을 함께 다루기 좋다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비용·지연시간·안전 정책·검증 방법이 복잡해진다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59816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59816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59816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배타적 규격이 아니라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강조점의 차이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한 모델이 두 방식을 겹쳐 쓰기도 합니다. 각 방식이 무엇에 강한지는 알아야 선택이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 네이티브로 간 대표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GPT-4o · Gemini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텍스트·이미지·소리를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신경망 안에서 처음부터 끝까지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함께 다룬다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 대화도 텍스트를 읽어 주는 수준을 넘어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억양·속도·표현·도구 사용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 함께 설계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웹·앱으로 쓰는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상용 서비스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이고 가중치는 공개돼 있지 않다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75179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575179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단, 실제 제품은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필터·도구 호출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등 여러 구성요소를 함께 묶어 돌립니다 — "네이티브"는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설계의 방향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이지, 전체 서비스가 파일 하나라는 뜻은 아닙니다.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📝 내가 다루는 이미지엔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담겼나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사진뿐 아니라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캡처·도면·계기판·차트·필기·제품 상태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 포함해 아래 표를 채워 보세요.</a:t>
            </a:r>
            <a:endParaRPr lang="en-US" sz="13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9943"/>
          <a:ext cx="11091672" cy="1536192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내가 다루는 시각 자료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텍스트로 옮기면 사라지는 단서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AI에게 물어볼 좋은 질문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사람이 마지막에 확인할 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예: 현장 설비 사진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녹슨 위치, 주변 배선, 계기판 상태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위험 징후를 위치별로 설명해 주세요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설비 규정과 맞는가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(내 자료 ①)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(내 자료 ②)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512439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3512439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3512439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좋은 멀티모달 질문은 "이 사진 설명해줘"에서 끝나지 않습니다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기준·근거 위치·불확실한 부분·추가로 필요한 입력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함께 요구해야, 모델이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것과 추정한 것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나눠 검토할 수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5문장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21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218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VLM은 이미지와 언어를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작업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잇고, 초기 핵심은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 학습(CLIP)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5104"/>
            <a:ext cx="11091672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7568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7568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5104"/>
            <a:ext cx="1037844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인코더가 그림·문장을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임베딩(숫자 벡터)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공간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놓는다.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78608"/>
            <a:ext cx="11091672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7919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7919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78608"/>
            <a:ext cx="1037844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멀티모달은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번역이 아니라 정렬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"가깝다"가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가능한 거리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된다.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82112"/>
            <a:ext cx="11091672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8269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8269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82112"/>
            <a:ext cx="1037844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붙이는 방식은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연결형·공유 임베딩형·네이티브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세 갈래(겹쳐 쓰기도).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85616"/>
            <a:ext cx="11091672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88620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388620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5568" y="3785616"/>
            <a:ext cx="1037844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"가깝다 ≠ 같다" — 정렬된 공간은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출발점이지 판단의 끝이 아니다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CLIP은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무엇으로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학습했나? (데이터 · 목표)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9136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91360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9136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멀티모달이 "번역이 아니라 정렬"이라는 말의 뜻은?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1112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11120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1112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"표현(representation)"은 원본과 어떻게 다른가?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3088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30881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3088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멀티모달 세 갈래는 각각 무엇이며, 강점은?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5064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50641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5064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"가깝다 = 같다"가 아닌 이유와, 그래서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할 일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은?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인터넷의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이미지–설명글 쌍 4억 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로, "어느 설명이 어느 그림에 붙는가"(정답 쌍의 거리 최소화)를 학습.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9136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91360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9136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이미지를 설명문으로 바꿔 읽는 게 아니라, 각 모달리티를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의미 공간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놓고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거리로 짝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찾는 것.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1112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11120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1112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원본의 복사가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업무에 쓸 특징을 숫자 벡터로 압축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것. (픽셀·파형 그대로가 아님)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3088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30881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3088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연결형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(전용 인코더가 LLM에 전달·오픈소스 풍부),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임베딩형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(교차 검색에 강함),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네이티브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(한 모델서 화면·소리·문맥 동시 / 비용·지연·안전은 복잡).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5064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50641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5064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모델의 거리는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통계적 관계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 진짜 중요한 차이를 늘 잡진 못함 → 사람이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기준·근거·불확실성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마지막에 확인해야 한다.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거리가 의미가 되는 공간 🌐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픽셀을 문장처럼 다룬다는 발상 — 여기까지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2026-07-31T21:39:26Z</dcterms:created>
  <dcterms:modified xsi:type="dcterms:W3CDTF">2026-07-31T21:39:26Z</dcterms:modified>
</cp:coreProperties>
</file>