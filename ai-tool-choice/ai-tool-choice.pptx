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4D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spc="300" kern="0" dirty="0">
                <a:solidFill>
                  <a:srgbClr val="CFE0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단원 4 · AI는 문서와 사진에서 무엇을 꺼낼까 (5)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2651760"/>
            <a:ext cx="106984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도구를 외우지 말고 AI로 선택하기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438912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4ED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플립드 인터뷰 · 후보 조사 · 반박 · 실제 시험 · 사람의 결정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DBA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study-room · AIFFEL 학습 정리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🗺️ 오늘의 흐름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139750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 목록을 외우는 게 아니라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선택하는 과정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익힌다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바로 추천받지 말고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먼저 질문받기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(플립드 인터랙션) → 업무로 답하기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 확인 후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후보를 웹으로 조사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→ 추천을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반박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하고 실제 과제로 시험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AI의 조언과 사람의 결정을 분리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하고 기록으로 남긴다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2915412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915412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7" name="Text 5"/>
          <p:cNvSpPr/>
          <p:nvPr/>
        </p:nvSpPr>
        <p:spPr>
          <a:xfrm>
            <a:off x="786384" y="2915412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🎯 한 줄: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AI는 질문자·조사원, 사람은 목적·허용 못 할 실패·데이터 반출·최종 책임을 결정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합니다. 도구가 바뀌면 같은 과정을 다시 적용하면 됩니다.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🧭 외우기가 아니라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과정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5362956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517904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외우기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49808" y="1847088"/>
            <a:ext cx="4960620" cy="47625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OCR·문서 VLM·멀티모달·탐지·분할의 모든 제품을 외운 뒤 고르기 →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공부가 끝나기 전에 목록이 낡음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7356" y="1371600"/>
            <a:ext cx="5362956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78524" y="1517904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과정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478524" y="1847088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일을 설명 → 현재 후보를 찾기 → 실제 자료로 선택을 갱신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2615184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11" name="Shape 9"/>
          <p:cNvSpPr/>
          <p:nvPr/>
        </p:nvSpPr>
        <p:spPr>
          <a:xfrm>
            <a:off x="548640" y="2615184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2" name="Text 10"/>
          <p:cNvSpPr/>
          <p:nvPr/>
        </p:nvSpPr>
        <p:spPr>
          <a:xfrm>
            <a:off x="786384" y="2615184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역할 분담 —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3A5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질문자·조사원,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 목적·허용할 수 없는 실패·데이터 반출 여부·최종 책임을 결정. (아래 프롬프트들은 표준 서식이 아니라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🔁 선택 과정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한눈에</a:t>
            </a:r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(🟡=사람이 하는 일)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11091672" cy="1005840"/>
          </a:xfrm>
          <a:prstGeom prst="roundRect">
            <a:avLst>
              <a:gd name="adj" fmla="val 8182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371600"/>
            <a:ext cx="10543032" cy="10058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[그림] ① 질문받기AI가 요구사항 인터뷰→ ② 확인요약을 사람이 검토→ ③ 후보 조사웹·공식 근거→ ④ 반박가정·반대안 검토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2523744"/>
            <a:ext cx="11091672" cy="1005840"/>
          </a:xfrm>
          <a:prstGeom prst="roundRect">
            <a:avLst>
              <a:gd name="adj" fmla="val 8182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523744"/>
            <a:ext cx="10543032" cy="10058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[그림] ⑤ 실제 시험닮은 과제로 출력 비교→ ⑥ 결정책임 있는 사람이→ ⑦ 기록tool_choice.md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3675888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3675888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0" name="Text 8"/>
          <p:cNvSpPr/>
          <p:nvPr/>
        </p:nvSpPr>
        <p:spPr>
          <a:xfrm>
            <a:off x="786384" y="3675888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파란 단계는 AI가 돕고,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노란 단계(②·⑥·⑦)는 사람이 확정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합니다. 도구가 바뀌면 이 고리를 다시 돕니다.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바로 추천받지 말고, 먼저 질문을 받는다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Flipped Interaction Pattern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722876" y="5486400"/>
            <a:ext cx="2743200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722876" y="548640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 질문을 주도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🙋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플립드 인터랙션</a:t>
            </a:r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AI가 질문을 주도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Vanderbilt Jules White 팀: 사용자는 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달성할 목표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와 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질문을 멈출 조건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알려 주고, 필요하면 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번에 하나씩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묻게 지정.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548640" y="1829943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▼ 프롬프트 ① 상담 시작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2288286"/>
            <a:ext cx="11091672" cy="2907792"/>
          </a:xfrm>
          <a:prstGeom prst="roundRect">
            <a:avLst>
              <a:gd name="adj" fmla="val 1572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2288286"/>
            <a:ext cx="54864" cy="2907792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2379726"/>
            <a:ext cx="10707624" cy="2724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문서나 사진을 처리할 AI 도구를 고르려고 해.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도구를 추천하기 전에 내 업무와 제약을 이해하도록 질문해 줘.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추천에 필요한 정보가 충분해질 때까지 질문하고,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내가 답하기 쉽도록 한 번에 질문 하나만 해 줘.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내 답을 추정해서 채우지 말고 모르는 것은 미확인으로 남긴다.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질문이 끝나면 네가 이해한 요구사항·가정한 것·아직 모르는 것을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구분해 요약하고 내가 확인할 때까지 추천을 시작하지 않는다.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'현재까지 요약해 줘' 하면 질문을 멈추고 같은 형식으로 요약한다.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상담 중에는 실제 기밀 파일이나 개인정보 업로드를 요구하지 않는다.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첫 질문을 시작해 줘.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질문엔 기술 이름이 아니라 업무로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"최신 모델을 쓰고 싶다"는 도움이 안 된다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786884" y="5486400"/>
            <a:ext cx="2615184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786884" y="5486400"/>
            <a:ext cx="26151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모르는 건 미확인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📋 선택에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유용한 업무 정보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1737741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하고 어떤 형태의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받아야 하나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잘 나온 예가 아니라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실제로 어려운 입력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 무엇인가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놓치거나 잘못 만들면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피해가 큰가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원문의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근거(위치)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남겨야 하나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파일을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외부로 보내도 되나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처리량·대기 시간·예산·실행 장치는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결과를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누가 검토하고 최종 승인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3255645"/>
            <a:ext cx="11091672" cy="769620"/>
          </a:xfrm>
          <a:prstGeom prst="roundRect">
            <a:avLst>
              <a:gd name="adj" fmla="val 7129"/>
            </a:avLst>
          </a:prstGeom>
          <a:solidFill>
            <a:srgbClr val="F2EDE4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3255645"/>
            <a:ext cx="54864" cy="76962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7" name="Text 5"/>
          <p:cNvSpPr/>
          <p:nvPr/>
        </p:nvSpPr>
        <p:spPr>
          <a:xfrm>
            <a:off x="786384" y="3255645"/>
            <a:ext cx="10707624" cy="7696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모르는 조건은 AI가 대신 정하게 하지 말고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미확인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으로. 외부 전송·법적 의무·사람에게 영향을 주는 자동 판정은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담당자가 확인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확인 전에는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공개·직접 만든 예시만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쓰고 실제 파일·개인정보·자격 증명·내부 주소는 대화에 올리지 않음.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 확인 뒤, 현재 후보를 조사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기억에 의존한 추천은 쓰지 않는다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850892" y="5486400"/>
            <a:ext cx="2487168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50892" y="5486400"/>
            <a:ext cx="24871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근거 우선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🔎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후보</a:t>
            </a:r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웹으로 조사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▼ 프롬프트 ② 후보 조사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829943"/>
            <a:ext cx="11091672" cy="2907792"/>
          </a:xfrm>
          <a:prstGeom prst="roundRect">
            <a:avLst>
              <a:gd name="adj" fmla="val 1572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829943"/>
            <a:ext cx="54864" cy="2907792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7" name="Text 5"/>
          <p:cNvSpPr/>
          <p:nvPr/>
        </p:nvSpPr>
        <p:spPr>
          <a:xfrm>
            <a:off x="768096" y="1921383"/>
            <a:ext cx="10707624" cy="2724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내가 확인한 요구사항을 기준으로 오늘 선택할 수 있는 도구를 웹에서 조사해 줘.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기억에만 의존하지 말고 원 논문·공식 문서·저장소,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공식 가격·라이선스·데이터 처리 정책을 우선 확인한다.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먼저 내 필수 조건을 충족하지 못해 탈락하는 후보와 이유를 적고,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남은 후보만 비교 가능한 표로 정리한다.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각 후보: 정확한 제품·모델·패키지 이름, 확인 날짜, 근거 URL,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지원 입력·출력, 로컬·클라우드 실행 조건, 비용·라이선스·데이터 전송,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확인된 사실 / 자료에서 한 추론 / 아직 모르는 것.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웹 검색·링크 열기가 불가능하면 조사한 척하지 말고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무엇을 확인할 수 없는지 알려 줘.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4884039"/>
            <a:ext cx="11091672" cy="769620"/>
          </a:xfrm>
          <a:prstGeom prst="roundRect">
            <a:avLst>
              <a:gd name="adj" fmla="val 7129"/>
            </a:avLst>
          </a:prstGeom>
          <a:solidFill>
            <a:srgbClr val="F2EDE4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4884039"/>
            <a:ext cx="54864" cy="76962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0" name="Text 8"/>
          <p:cNvSpPr/>
          <p:nvPr/>
        </p:nvSpPr>
        <p:spPr>
          <a:xfrm>
            <a:off x="786384" y="4884039"/>
            <a:ext cx="10707624" cy="7696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 못 하는 AI엔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교안의 공식 링크를 붙여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"링크만 읽고 비교, 확인 못 하면 미확인"으로.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링크를 붙였다는 사실만으로 검증 끝이 아님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직접 열어 문구·날짜 확인. 공식 문서의 "지원한다"는 내 자료에서 "잘된다"가 아니므로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성능은 실제 표본 시험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추천을 반박하고, 실제 과제로 시험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아첨 편향을 먼저 흔든다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30852" y="5486400"/>
            <a:ext cx="3127248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30852" y="5486400"/>
            <a:ext cx="31272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논리 검토 ≠ 실제 출력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🥊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아첨 편향</a:t>
            </a:r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흔드는 반박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Anthropic 연구: 여러 AI가 사용자 견해에 맞추는 아첨 행동을 보였고, 평가자·선호 모델도 견해와 일치하는 답을 더 선호. 한쪽만 들은 상담의 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과도한 확신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 위험.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548640" y="1829943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▼ 프롬프트 ③ 추천 반박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2288286"/>
            <a:ext cx="11091672" cy="1787652"/>
          </a:xfrm>
          <a:prstGeom prst="roundRect">
            <a:avLst>
              <a:gd name="adj" fmla="val 2558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2288286"/>
            <a:ext cx="54864" cy="1787652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2379726"/>
            <a:ext cx="10707624" cy="160477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이 추천을 결론으로 확정하지 말고 다시 검토해 줘.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어떤 가정 위에서 추천했는가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어떤 사실이 확인되면 추천이 뒤집히는가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가장 강한 다른 후보는 무엇이며 어떤 조건에서 더 나은가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실제 자료 없이 판단할 수 없는 것은 무엇인가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나의 선호에 맞추지 말고 확인된 사실·추론·미확인을 구분해 답해 줘.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4222242"/>
            <a:ext cx="11091672" cy="769620"/>
          </a:xfrm>
          <a:prstGeom prst="roundRect">
            <a:avLst>
              <a:gd name="adj" fmla="val 7129"/>
            </a:avLst>
          </a:prstGeom>
          <a:solidFill>
            <a:srgbClr val="F2EDE4"/>
          </a:solidFill>
          <a:ln/>
        </p:spPr>
      </p:sp>
      <p:sp>
        <p:nvSpPr>
          <p:cNvPr id="10" name="Shape 8"/>
          <p:cNvSpPr/>
          <p:nvPr/>
        </p:nvSpPr>
        <p:spPr>
          <a:xfrm>
            <a:off x="548640" y="4222242"/>
            <a:ext cx="54864" cy="76962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1" name="Text 9"/>
          <p:cNvSpPr/>
          <p:nvPr/>
        </p:nvSpPr>
        <p:spPr>
          <a:xfrm>
            <a:off x="786384" y="4222242"/>
            <a:ext cx="10707624" cy="7696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그다음은 논리가 아니라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출력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시험 — 벤치마크만 X,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업무와 닮은 과제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만들고 여러 번 실행해 비교,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판단할 수 있는 사람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평가, 주기적 반복.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반론을 잘 쓰는 것과 실제 자료에서 잘 작동하는 것은 다른 검증.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AI의 조언과 사람의 결정을 분리한다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그리고 기록으로 남긴다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658868" y="5486400"/>
            <a:ext cx="2871216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658868" y="5486400"/>
            <a:ext cx="28712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NIST AI RMF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⚖️ 역할 분리 &amp;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5362956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517904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 돕는 일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49808" y="1847088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 조사 · 빠진 조건 찾기 · 비교 시험 초안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7356" y="1371600"/>
            <a:ext cx="5362956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78524" y="1517904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결정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478524" y="1847088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전송 여부 · 감수할 오류 · 법률·보안 충족 · 사람에게 영향을 주는 자동 승인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48640" y="2386584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NIST AI RMF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 사람·AI의 역할과 감독 책임을 구분하고, 시험·평가·검증 절차와 결과를 문서화하도록 제시.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548640" y="2844927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▼ 프롬프트 ④ 기록 (outputs/tool_choice.md)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3303270"/>
            <a:ext cx="11091672" cy="1787652"/>
          </a:xfrm>
          <a:prstGeom prst="roundRect">
            <a:avLst>
              <a:gd name="adj" fmla="val 2558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03270"/>
            <a:ext cx="54864" cy="1787652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14" name="Text 12"/>
          <p:cNvSpPr/>
          <p:nvPr/>
        </p:nvSpPr>
        <p:spPr>
          <a:xfrm>
            <a:off x="768096" y="3394710"/>
            <a:ext cx="10707624" cy="160477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이 대화에서 확인된 내용만 사용해 Markdown 기록을 만들어 줘.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조사한 업무와 자료 / 공식 근거를 확인한 후보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확인된 사실 / 추론 / 미확인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AI가 판단할 수 없어 사람이 결정할 사항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실제 업무와 닮은 비교 자료와 평가 방법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선택을 다시 조사해야 할 변화나 실패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확인하지 않은 정책·기준은 추정하지 말고 [사람이 결정]으로 남긴다.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🧪 상담과 실제 시험을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나눠 진행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13335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프롬프트 순서: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질문으로 요구사항 → 사람 확인 → 후보 조사 → 가정·반대안 검토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웹 조사·기록·직접 실행은 실제 선택이 필요할 때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 PDF·YOLO 실습의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 도구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상담 추천과 같다는 보장이 없음 → "그 후보를 검증"이라 말하지 않고, 상담에서 드러난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평가 기준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(출력·근거·위험 오류·데이터 처리)을 고정 도구에 적용하는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예제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사용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비교엔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잘 나온 자료만 고르지 않음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문서=기울어짐·도장 겹침·복잡한 표, 사진=가림·역광·작은 대상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2851404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851404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7" name="Text 5"/>
          <p:cNvSpPr/>
          <p:nvPr/>
        </p:nvSpPr>
        <p:spPr>
          <a:xfrm>
            <a:off x="786384" y="2851404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목표는 이름을 다 외우는 게 아니라 —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일을 질문하게 하고, 현재 후보·공식 근거를 조사하게 한 뒤, 닮은 과제로 평가하고 사람이 결정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도구가 바뀌면 같은 과정을 반복.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📌 이것만은 꼭 —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6문장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11091672" cy="509016"/>
          </a:xfrm>
          <a:prstGeom prst="roundRect">
            <a:avLst>
              <a:gd name="adj" fmla="val 1616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76656" y="147066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6" name="Text 4"/>
          <p:cNvSpPr/>
          <p:nvPr/>
        </p:nvSpPr>
        <p:spPr>
          <a:xfrm>
            <a:off x="676656" y="147066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15568" y="1371600"/>
            <a:ext cx="10378440" cy="5090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제품을 외우지 말고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선택하는 과정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익힌다 (도구는 목록보다 빨리 낡음)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1972056"/>
            <a:ext cx="11091672" cy="509016"/>
          </a:xfrm>
          <a:prstGeom prst="roundRect">
            <a:avLst>
              <a:gd name="adj" fmla="val 1616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76656" y="207111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" y="2071116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115568" y="1972056"/>
            <a:ext cx="10378440" cy="5090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바로 추천받지 말고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플립드 인터랙션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목표+멈출 조건+한 번에 하나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572512"/>
            <a:ext cx="11091672" cy="509016"/>
          </a:xfrm>
          <a:prstGeom prst="roundRect">
            <a:avLst>
              <a:gd name="adj" fmla="val 1616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76656" y="2671572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4" name="Text 12"/>
          <p:cNvSpPr/>
          <p:nvPr/>
        </p:nvSpPr>
        <p:spPr>
          <a:xfrm>
            <a:off x="676656" y="2671572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115568" y="2572512"/>
            <a:ext cx="10378440" cy="5090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질문엔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이름이 아니라 업무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답하고, 모르는 건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미확인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172968"/>
            <a:ext cx="11091672" cy="509016"/>
          </a:xfrm>
          <a:prstGeom prst="roundRect">
            <a:avLst>
              <a:gd name="adj" fmla="val 1616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76656" y="327202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8" name="Text 16"/>
          <p:cNvSpPr/>
          <p:nvPr/>
        </p:nvSpPr>
        <p:spPr>
          <a:xfrm>
            <a:off x="676656" y="3272028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115568" y="3172968"/>
            <a:ext cx="10378440" cy="5090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기억 말고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근거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후보 조사. "지원한다" ≠ "내 자료에서 잘된다"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3773424"/>
            <a:ext cx="11091672" cy="509016"/>
          </a:xfrm>
          <a:prstGeom prst="roundRect">
            <a:avLst>
              <a:gd name="adj" fmla="val 1616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76656" y="387248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22" name="Text 20"/>
          <p:cNvSpPr/>
          <p:nvPr/>
        </p:nvSpPr>
        <p:spPr>
          <a:xfrm>
            <a:off x="676656" y="3872484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115568" y="3773424"/>
            <a:ext cx="10378440" cy="5090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아첨 편향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반박으로 흔들고,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닮은 과제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출력을 시험(주기적 반복)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48640" y="4373880"/>
            <a:ext cx="11091672" cy="509016"/>
          </a:xfrm>
          <a:prstGeom prst="roundRect">
            <a:avLst>
              <a:gd name="adj" fmla="val 1616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76656" y="447294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26" name="Text 24"/>
          <p:cNvSpPr/>
          <p:nvPr/>
        </p:nvSpPr>
        <p:spPr>
          <a:xfrm>
            <a:off x="676656" y="44729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115568" y="4373880"/>
            <a:ext cx="10378440" cy="5090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AI의 조언과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사람의 결정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분리하고 기록으로 남긴다(NIST 역할 구분)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🎯 이해도 확인 질문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612648" y="1371600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371600"/>
            <a:ext cx="64008" cy="434721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6" name="Text 4"/>
          <p:cNvSpPr/>
          <p:nvPr/>
        </p:nvSpPr>
        <p:spPr>
          <a:xfrm>
            <a:off x="786384" y="1371600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Q1.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도구를 다 외워서 고르면 안 되는 이유는? 대신 무엇을 익히나?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12648" y="1888617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888617"/>
            <a:ext cx="64008" cy="434721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9" name="Text 7"/>
          <p:cNvSpPr/>
          <p:nvPr/>
        </p:nvSpPr>
        <p:spPr>
          <a:xfrm>
            <a:off x="786384" y="1888617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플립드 인터랙션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이란? 사용자가 미리 정해 줘야 하는 것은?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2648" y="2405634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405634"/>
            <a:ext cx="64008" cy="434721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12" name="Text 10"/>
          <p:cNvSpPr/>
          <p:nvPr/>
        </p:nvSpPr>
        <p:spPr>
          <a:xfrm>
            <a:off x="786384" y="2405634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Q3.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"최신 모델 쓰고 싶다"보다 유용한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정보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예시는? 모르는 조건은 어떻게?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12648" y="2922651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2922651"/>
            <a:ext cx="64008" cy="434721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15" name="Text 13"/>
          <p:cNvSpPr/>
          <p:nvPr/>
        </p:nvSpPr>
        <p:spPr>
          <a:xfrm>
            <a:off x="786384" y="2922651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Q4.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공식 문서의 "지원한다"와 내 자료에서 "잘된다"의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는? 링크를 붙였다고 검증 끝인가?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2648" y="3439668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3439668"/>
            <a:ext cx="64008" cy="434721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18" name="Text 16"/>
          <p:cNvSpPr/>
          <p:nvPr/>
        </p:nvSpPr>
        <p:spPr>
          <a:xfrm>
            <a:off x="786384" y="3439668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Q5.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아첨 편향(sycophancy)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이란? 추천을 반박시키는 이유는?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12648" y="3956685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3956685"/>
            <a:ext cx="64008" cy="434721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21" name="Text 19"/>
          <p:cNvSpPr/>
          <p:nvPr/>
        </p:nvSpPr>
        <p:spPr>
          <a:xfrm>
            <a:off x="786384" y="3956685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Q6.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AI가 돕는 일과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결정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 일의 경계는?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✅ 정답 &amp; 해설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612648" y="1371600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371600"/>
            <a:ext cx="64008" cy="434721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6" name="Text 4"/>
          <p:cNvSpPr/>
          <p:nvPr/>
        </p:nvSpPr>
        <p:spPr>
          <a:xfrm>
            <a:off x="786384" y="1371600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모델·가격·라이선스·데이터 조건이 자주 바뀌어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 외우면 목록이 낡음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대신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일 설명 → 후보 찾기 → 실제 자료로 갱신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하는 과정을 익힌다.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12648" y="1888617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888617"/>
            <a:ext cx="64008" cy="434721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9" name="Text 7"/>
          <p:cNvSpPr/>
          <p:nvPr/>
        </p:nvSpPr>
        <p:spPr>
          <a:xfrm>
            <a:off x="786384" y="1888617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AI가 목표 달성에 필요한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질문을 주도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하는 방식. 사용자는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달성할 목표 + 질문을 멈출 조건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(+한 번에 하나)을 지정.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2648" y="2405634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405634"/>
            <a:ext cx="64008" cy="434721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2" name="Text 10"/>
          <p:cNvSpPr/>
          <p:nvPr/>
        </p:nvSpPr>
        <p:spPr>
          <a:xfrm>
            <a:off x="786384" y="2405634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A3.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입력·출력, 실제 어려운 입력, 피해 큰 실수, 근거 보존, 외부 전송 가부, 처리량·시간·예산, 검토·승인자. 모르는 조건은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미확인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두고 담당자가 확인.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12648" y="2922651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2922651"/>
            <a:ext cx="64008" cy="434721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5" name="Text 13"/>
          <p:cNvSpPr/>
          <p:nvPr/>
        </p:nvSpPr>
        <p:spPr>
          <a:xfrm>
            <a:off x="786384" y="2922651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A4.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"지원한다"는 기능 유무일 뿐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자료에서 잘된다는 보장이 아님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(성능은 표본 시험으로). 링크는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열어 문구·날짜를 확인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해야 검증.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2648" y="3439668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3439668"/>
            <a:ext cx="64008" cy="434721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8" name="Text 16"/>
          <p:cNvSpPr/>
          <p:nvPr/>
        </p:nvSpPr>
        <p:spPr>
          <a:xfrm>
            <a:off x="786384" y="3439668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A5.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AI가 사용자의 견해에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지나치게 동의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하는 경향. 한쪽만 들은 과도한 확신을 막으려고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가정·반대안·뒤집는 사실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스스로 대게 반박시킨다.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12648" y="3956685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3956685"/>
            <a:ext cx="64008" cy="434721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21" name="Text 19"/>
          <p:cNvSpPr/>
          <p:nvPr/>
        </p:nvSpPr>
        <p:spPr>
          <a:xfrm>
            <a:off x="786384" y="3956685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A6.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AI = 후보 조사·빠진 조건·비교 초안. 사람 =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전송·감수할 오류·법률/보안·자동 승인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결정(NIST: 역할·감독 구분, 문서화).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2C4D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651760"/>
            <a:ext cx="106984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수고하셨습니다 🙌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731520" y="438912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4ED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— PDF 실습과 사진(YOLO) 실습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DBA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study-room · AIFFEL 학습 정리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2026-07-31T05:46:52Z</dcterms:created>
  <dcterms:modified xsi:type="dcterms:W3CDTF">2026-07-31T05:46:52Z</dcterms:modified>
</cp:coreProperties>
</file>