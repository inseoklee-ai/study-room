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spc="300" kern="0" dirty="0">
                <a:solidFill>
                  <a:srgbClr val="CFE0D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대단원 2 · AIFFEL_LMS · 에이전트 도구 ⑤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너머 — 확장과 요즘 흐름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당장 필요하진 않습니다 — '한 걸음 더' 나가는 이야기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여섯 갈래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쌓아 올린 결과들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066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066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플러그인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스킬·MCP·명령을 한 꾸러미로 나누기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72056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7111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7111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72056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팀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여러 전문 에이전트를 통째로 얹기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572512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6715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6715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572512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 주도 개발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'먼저 적고 시키기'를 프로젝트 전체로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172968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" y="327202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" y="327202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15568" y="3172968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컴파운드 엔지니어링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일할 때마다 규칙·스킬로 남겨 쌓기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773424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" y="38724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" y="387248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115568" y="3773424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엔지니어링(Ralph)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프롬프트가 아니라 루프를 설계하기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373880"/>
            <a:ext cx="11091672" cy="509016"/>
          </a:xfrm>
          <a:prstGeom prst="roundRect">
            <a:avLst>
              <a:gd name="adj" fmla="val 1616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76656" y="447294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26" name="Text 24"/>
          <p:cNvSpPr/>
          <p:nvPr/>
        </p:nvSpPr>
        <p:spPr>
          <a:xfrm>
            <a:off x="676656" y="44729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115568" y="4373880"/>
            <a:ext cx="10378440" cy="5090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→ 스킬 + CLI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가벼운 쪽으로 도는 요즘 흐름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스킬·도구를 통째로 나누기 — 플러그인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꾸러미, 명령 한 줄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스킬 너머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다섯 가지를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꾸러미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737741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서브에이전트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큰 일을 나눠 맡는 보조 AI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슬래시 명령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/로 시작하는 단축 명령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자동화 훅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정해진 순간에 자동 실행되는 동작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연결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255645"/>
            <a:ext cx="11091672" cy="1115568"/>
          </a:xfrm>
          <a:prstGeom prst="roundRect">
            <a:avLst>
              <a:gd name="adj" fmla="val 4098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3255645"/>
            <a:ext cx="54864" cy="111556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7" name="Text 5"/>
          <p:cNvSpPr/>
          <p:nvPr/>
        </p:nvSpPr>
        <p:spPr>
          <a:xfrm>
            <a:off x="768096" y="3347085"/>
            <a:ext cx="10707624" cy="932688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마켓플레이스(플러그인 모음)를 하나 등록하고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 anthropics/claude-plugins-community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거기서 원하는 플러그인을 설치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&lt;플러그인이름&gt;@claude-community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451751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451751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0" name="Text 8"/>
          <p:cNvSpPr/>
          <p:nvPr/>
        </p:nvSpPr>
        <p:spPr>
          <a:xfrm>
            <a:off x="786384" y="451751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⚖️ 필요할 때 켜고 안 쓸 때 끄면 됩니다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많이 켤수록 AI가 읽어야 할 맥락이 늘어 느려지니 '지금 쓸 것만'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빛나는 건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팀에서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좋은 세팅은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잘하는 한 사람 머릿속(이나 노트북)에만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있죠. 그걸 플러그인으로 묶어 두면 —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829943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"우리 팀 코드 리뷰는 이렇게", "배포는 이 순서로" 같은 노하우가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한 번으로 모두의 것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됩니다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89064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버전이 붙어 있어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만든 사람이 고치면 다 같이 업데이트됩니다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문제가 생기면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버전으로 되돌리기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걸음 더 — 에이전트 팀을 통째로 얹기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oh-my-claudecode · omo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스킬 너머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지휘자가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나눠 맡기고 병렬로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큰 일이 들어오면 지휘자가 알아서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조사·구현·검증 담당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에게 나눠 맡기고 병렬로 굴리는 식입니다.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oh-my-claudecode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49808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Code에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플러그인으로 얹는 '팀 우선' 오케스트레이션 레이어.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설치하면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수십 개의 전문 에이전트와 스킬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한 번에 딸려 온다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77356" y="1829943"/>
            <a:ext cx="5362956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78524" y="1976247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oh-my-openagent (omo)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478524" y="2305431"/>
            <a:ext cx="4960620" cy="47625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한발 더 나아가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모델을 가리지 않는다.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Claude든 GPT든 Gemini든 한 인터페이스 뒤에 묶어 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"잔일엔 값싼 모델, 판단엔 제일 똑똑한 모델"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처럼 골라 쓴다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073527"/>
            <a:ext cx="11091672" cy="667512"/>
          </a:xfrm>
          <a:prstGeom prst="roundRect">
            <a:avLst>
              <a:gd name="adj" fmla="val 6849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3073527"/>
            <a:ext cx="54864" cy="66751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" y="3164967"/>
            <a:ext cx="10707624" cy="4846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marketplace add https://github.com/Yeachan-Heo/oh-my-claudecode</a:t>
            </a:r>
            <a:endParaRPr lang="en-US" sz="1100" dirty="0"/>
          </a:p>
          <a:p>
            <a:pPr algn="l" indent="0" marL="0">
              <a:lnSpc>
                <a:spcPct val="102000"/>
              </a:lnSpc>
              <a:buNone/>
            </a:pPr>
            <a:r>
              <a:rPr lang="en-US" sz="1100" dirty="0">
                <a:solidFill>
                  <a:srgbClr val="2A272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/plugin install oh-my-claudecode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873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" y="38873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6" name="Text 14"/>
          <p:cNvSpPr/>
          <p:nvPr/>
        </p:nvSpPr>
        <p:spPr>
          <a:xfrm>
            <a:off x="786384" y="38873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🧭 omo는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회사 도구에 묶이고 싶지 않을 때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선택입니다 — 소단원 ④의 "모델은 갈아 끼우는 부품"과 이어집니다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'먼저 적고 시키는' 명세 주도 개발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Spec Kit · Kiro · OpenSpec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스킬 너머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 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"만들어 줘"만 던지면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설명 없이 "만들어 줘"만 던지는 이른바 '바이브 코딩'은 빠르지만, AI가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슬금슬금 내 의도에서 벗어나거나 없는 기능을 지어내기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십상입니다.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요구사항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04723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3412998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67862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486150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설계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911596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77356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6B4D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32220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350508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 일 목록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877595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9141714" y="1829943"/>
            <a:ext cx="2498598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96578" y="1939671"/>
            <a:ext cx="238887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214866" y="2232279"/>
            <a:ext cx="2352294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073527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3073527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2" name="Text 20"/>
          <p:cNvSpPr/>
          <p:nvPr/>
        </p:nvSpPr>
        <p:spPr>
          <a:xfrm>
            <a:off x="786384" y="3073527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한마디로 —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"코드가 정답이 아니라, 내 의도(명세)가 정답이다"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 무게중심을 옮기는 것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3768471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우리가 앞서 과제로 써 본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PRD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바로 그 '명세'의 출발점이었습니다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도구도 이미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많습니다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210845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5271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성격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5271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Spec Kit github/spec-kit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깃허브가 내놓은 오픈소스. '원칙 → 명세 → 계획 → 할 일 → 구현'을 정해진 순서(각 단계가 /speckit.specify 같은 명령)로 밟게 해 준다. 별 12만 개를 넘을 만큼 인기이고 여러 AI 코딩 도구에서 두루 쓰인다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71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Kiro AWS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아마존이 내놓은, 아예 명세부터 쓰게 만드는 편집기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2711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OpenSpec Fission-AI/openspec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더 가볍게 시작하고 싶을 때. 명령 한 줄로 설치되고, 특히 이미 굴러가는 프로젝트를 조금씩 고쳐 나갈 때 편하다는 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626358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방식은 조금씩 달라도 뿌리는 같습니다 —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짧게라도 먼저 적고 시키면 AI가 덜 헤매고, 결과도 고쳐 쓰기 좋습니다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다만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만능은 아닙니다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요즘 결론은 '섞어 쓰기'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🏃 가볍게 탐색·시제품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그냥 대화로 (</a:t>
            </a:r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바이브 코딩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77356" y="1371600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78524" y="1517904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🏗️ 오래 유지할 중요한 것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478524" y="1847088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명세로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386584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386584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명세 주도 개발의 진짜 값어치는 도구 자체가 아니라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'만들기 전에 한 번 더 생각하게 만든다'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데 있습니다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쌓일수록 강해지기 — 컴파운드 엔지니어링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Every · Hermes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스킬 너머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일이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이전 일 위에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쌓이게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핵심은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'일할 때마다 그 경험을 규칙·스킬로 남겨, 다음 일이 이전 일 위에 쌓이게'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하는 것입니다.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E3DAC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03504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21792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버그를 고친다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002024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367784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A5A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22648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440936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교훈을 AGENTS.md에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821168" y="1829943"/>
            <a:ext cx="365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8186928" y="1829943"/>
            <a:ext cx="3453384" cy="10972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22225">
            <a:solidFill>
              <a:srgbClr val="3F6B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41792" y="1939671"/>
            <a:ext cx="3343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8260080" y="2232279"/>
            <a:ext cx="3307080" cy="6035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AI가 다음부터  자동으로 지킨다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3073527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개발사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Every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 이 방식으로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소수 인원이 여러 제품을 굴린다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 알려졌습니다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이름의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 플러그인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인기입니다 — 코드 리뷰를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전문 에이전트가 병렬로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나눠 보는 기능이 대표적</a:t>
            </a:r>
            <a:endParaRPr lang="en-US" sz="14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도구로 구현한 예 — </a:t>
            </a:r>
            <a:pPr indent="0" marL="0">
              <a:buNone/>
            </a:pPr>
            <a:r>
              <a:rPr lang="en-US" sz="2400" b="1" dirty="0">
                <a:solidFill>
                  <a:srgbClr val="6B4D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Hermes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56921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AI는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대화창을 닫으면 배운 걸 잊지만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Nous Research의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Hermes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기억을 남기고 스스로 스킬을 만들어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오래 쓸수록 똑똑해지도록 설계됐습니다(모델은 갈아 끼울 수 있고요).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8711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08711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만든 쪽은 이렇게 말합니다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"진짜 열쇠는 더 똑똑한 모델이 아니라, 모델을 감싸는 더 똑똑한 껍데기(하네스)"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3147822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배운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'모델 + 하네스'의 하네스를 끝까지 밀어붙인 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4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프롬프트를 넘어 루프로 — 'Ralph'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 엔지니어링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스킬 너머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방법은 놀랄 만큼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단순합니다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76656" y="147828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676656" y="147828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115568" y="1371600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지시(스펙 = 앞서 본 명세 파일)를 계속 다시 준다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1987296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76656" y="2093976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0" name="Text 8"/>
          <p:cNvSpPr/>
          <p:nvPr/>
        </p:nvSpPr>
        <p:spPr>
          <a:xfrm>
            <a:off x="676656" y="209397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115568" y="1987296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한 가지만 하고 커밋</a:t>
            </a:r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하기를 목표를 이룰 때까지 반복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602992"/>
            <a:ext cx="11091672" cy="524256"/>
          </a:xfrm>
          <a:prstGeom prst="roundRect">
            <a:avLst>
              <a:gd name="adj" fmla="val 15698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2709672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3F6B5F"/>
          </a:solidFill>
          <a:ln/>
        </p:spPr>
      </p:sp>
      <p:sp>
        <p:nvSpPr>
          <p:cNvPr id="14" name="Text 12"/>
          <p:cNvSpPr/>
          <p:nvPr/>
        </p:nvSpPr>
        <p:spPr>
          <a:xfrm>
            <a:off x="676656" y="2709672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15568" y="2602992"/>
            <a:ext cx="10378440" cy="5242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상황은 </a:t>
            </a:r>
            <a:pPr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 기억이 아니라 파일과 git에 쌓아 둔다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273552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헌틀리의 원래 방식은 명령줄에서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에이전트를 매번 새로 호출하는 bash 루프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라, 한 바퀴가 새 프로세스로 시작됩니다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단, '깨끗한 대화 리셋'이 Ralph의 정해진 기능은 아니고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세션에 지시만 다시 넣는 구현도 많습니다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하나의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긴 대화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대신 이렇게 할까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앞서 본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'컨텍스트 부패'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떠올리면 됩니다. 대화가 길어질수록 AI가 헤매니, 상태를 대화 기억에 쌓지 않고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스펙·AGENTS.md 같은 고정 파일과 git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 둡니다.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🔁 그러면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바퀴에서 시작하든 AI가 같은 안내 파일을 근거로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삼습니다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524887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67119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2023 AutoGPT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49808" y="3000375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'무한 반복'으로 실패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277356" y="2524887"/>
            <a:ext cx="536295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78524" y="2671191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Ralph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78524" y="3000375"/>
            <a:ext cx="4960620" cy="274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3000"/>
              </a:lnSpc>
              <a:buNone/>
            </a:pPr>
            <a:r>
              <a:rPr lang="en-US" sz="12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'멈출 기준(스펙) + 파일에 쌓는 진행'</a:t>
            </a:r>
            <a:pPr indent="0" marL="0">
              <a:lnSpc>
                <a:spcPct val="103000"/>
              </a:lnSpc>
              <a:buNone/>
            </a:pPr>
            <a:r>
              <a:rPr lang="en-US" sz="12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다시 풀었다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539871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헌틀리는 이 방식으로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 언어 하나를 약 300달러어치 호출로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만들어 화제가 됐습니다</a:t>
            </a:r>
            <a:endParaRPr lang="en-US" sz="14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도구에 아예 들어왔습니다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1057275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Code에는 목표만 주면 알아서 도는 /goal 명령이 생겼습니다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Anthropic과 OpenAI가 '루프 만드는 법'을 공식 문서로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Code를 만든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보리스 체르니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이렇게까지 말합니다 —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575179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575179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"나는 이제 프롬프트하지 않는다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루프를 돌리고, 그 루프가 대신 프롬프트한다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363588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363588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363588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다만 안전장치가 없으면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무한 반복·엉뚱한 목표·요금 폭발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흔하니,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멈출 기준과 검토는 여전히 사람 몫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입니다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175504" y="1828800"/>
            <a:ext cx="1828800" cy="1828800"/>
          </a:xfrm>
          <a:prstGeom prst="roundRect">
            <a:avLst>
              <a:gd name="adj" fmla="val 15000"/>
            </a:avLst>
          </a:prstGeom>
          <a:solidFill>
            <a:srgbClr val="3F6B5F"/>
          </a:solidFill>
          <a:ln/>
        </p:spPr>
      </p:sp>
      <p:sp>
        <p:nvSpPr>
          <p:cNvPr id="3" name="Text 1"/>
          <p:cNvSpPr/>
          <p:nvPr/>
        </p:nvSpPr>
        <p:spPr>
          <a:xfrm>
            <a:off x="5175504" y="182880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931920"/>
            <a:ext cx="10332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 흐름 — MCP에서 '스킬 + CLI'로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914400" y="484632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가벼운 쪽으로 도는 반작용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914900" y="5486400"/>
            <a:ext cx="2359152" cy="457200"/>
          </a:xfrm>
          <a:prstGeom prst="roundRect">
            <a:avLst>
              <a:gd name="adj" fmla="val 50000"/>
            </a:avLst>
          </a:prstGeom>
          <a:solidFill>
            <a:srgbClr val="F2EDE4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14900" y="5486400"/>
            <a:ext cx="2359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스킬 너머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MCP는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공짜가 아닙니다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연결해 두면 AI가 그 도구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설명서를 미리 통째로 읽어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두는데, 이게 앞서 본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컨텍스트(기억 공간)를 꽤 잡아먹습니다.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⚠️ 서버 몇 개만 붙여도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대화를 시작하기도 전에 수만 토큰이 날아가곤</a:t>
            </a:r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합니다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 2026년 들어 재미있는 반작용이 생겼습니다 —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무거운 MCP 서버 대신, AI가 원래 알고 있는 명령줄 도구(CLI)를 그냥 쓰게 하자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흐름이죠.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983230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— 깃허브 작업은 gh라는 공식 CLI가 이미 있고, 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AI는 이 명령을 학습으로 알고 있습니다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그러니 GitHub용 MCP 서버를 따로 세우는 대신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"gh로 이슈 목록 가져와"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라고 시키면 됩니다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일을 하는데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1천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vs </a:t>
            </a:r>
            <a:pPr indent="0" marL="0">
              <a:buNone/>
            </a:pPr>
            <a:r>
              <a:rPr lang="en-US" sz="2400" b="1" dirty="0">
                <a:solidFill>
                  <a:srgbClr val="A65A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4만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토큰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3697224"/>
                <a:gridCol w="3697224"/>
                <a:gridCol w="3697224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비교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가벼운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무거운 쪽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같은 작업 수행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CLI 약 1,000 토큰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약 40,000 토큰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도구 설명 방식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800토큰짜리 스킬 파일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28,000토큰짜리 MCP 설명서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2670048"/>
            <a:ext cx="11091672" cy="71704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"이럴 땐 이 명령을 써" 정도를 담은 짧은 스킬 파일 하나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만 얹으면 더 빠르고 정확해집니다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800토큰짜리 스킬 파일이 2만 8천 토큰짜리 MCP 설명서보다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나았다는 결과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 있습니다</a:t>
            </a:r>
            <a:endParaRPr lang="en-US" sz="14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이 문제도 </a:t>
            </a:r>
            <a:pPr indent="0" marL="0">
              <a:buNone/>
            </a:pPr>
            <a:r>
              <a:rPr lang="en-US" sz="2400" b="1" dirty="0">
                <a:solidFill>
                  <a:srgbClr val="3A5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쪽에서 손보고</a:t>
            </a:r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있습니다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371600"/>
            <a:ext cx="11091672" cy="31203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 Claude Code는 연결된 MCP 도구를 처음부터 다 읽지 않고, 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필요할 때 검색해서 그때그때 불러오는 방식(툴 서치)</a:t>
            </a:r>
            <a:pPr indent="0" marL="0">
              <a:lnSpc>
                <a:spcPct val="108000"/>
              </a:lnSpc>
              <a:spcAft>
                <a:spcPts val="200"/>
              </a:spcAft>
              <a:buNone/>
            </a:pPr>
            <a:r>
              <a:rPr lang="en-US" sz="13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기본으로 씁니다.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29943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2EDE4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9943"/>
            <a:ext cx="54864" cy="548640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1829943"/>
            <a:ext cx="10707624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🎯 그래서 MCP를 잔뜩 붙여 둬도 </a:t>
            </a:r>
            <a:pPr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예전처럼 대화를 시작하자마자 컨텍스트가 꽉 차진 않습니다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2524887"/>
            <a:ext cx="11091672" cy="376809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  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'MCP는 무거우니 무조건 피하라'가 아니라</a:t>
            </a:r>
            <a:pPr indent="0" marL="0">
              <a:lnSpc>
                <a:spcPct val="105000"/>
              </a:lnSpc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무거운 부분은 </a:t>
            </a:r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알아서 덜어 주는 쪽</a:t>
            </a:r>
            <a:pPr indent="0" marL="0">
              <a:lnSpc>
                <a:spcPct val="105000"/>
              </a:lnSpc>
              <a:spcAft>
                <a:spcPts val="700"/>
              </a:spcAft>
              <a:buNone/>
            </a:pPr>
            <a:r>
              <a:rPr lang="en-US" sz="1450" dirty="0">
                <a:solidFill>
                  <a:srgbClr val="6B635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가고 있는 겁니다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요즘 정리 — </a:t>
            </a:r>
            <a:pPr indent="0" marL="0">
              <a:buNone/>
            </a:pPr>
            <a:r>
              <a:rPr lang="en-US" sz="2400" b="1" dirty="0">
                <a:solidFill>
                  <a:srgbClr val="3F6B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셋 중 하나가 아니라 함께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1672" cy="1152144"/>
        </p:xfrm>
        <a:graphic>
          <a:graphicData uri="http://schemas.openxmlformats.org/drawingml/2006/table">
            <a:tbl>
              <a:tblPr/>
              <a:tblGrid>
                <a:gridCol w="5545836"/>
                <a:gridCol w="5545836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 상황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가벼운 선택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EDE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혼자 작은 걸 만들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이미 있는 CLI + 짧은 스킬 — 가볍고 빠르다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A2723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여럿이 쓰고 접근 권한·기록이 중요할 때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6B635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MCP — 표준화된 관리가 여전히 강하다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63500" marR="63500" marT="38100" marB="38100" anchor="t">
                    <a:lnL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3DA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670048"/>
            <a:ext cx="11091672" cy="914400"/>
          </a:xfrm>
          <a:prstGeom prst="roundRect">
            <a:avLst>
              <a:gd name="adj" fmla="val 14000"/>
            </a:avLst>
          </a:prstGeom>
          <a:solidFill>
            <a:srgbClr val="3F6B5F"/>
          </a:solidFill>
          <a:ln/>
        </p:spPr>
      </p:sp>
      <p:sp>
        <p:nvSpPr>
          <p:cNvPr id="6" name="Text 3"/>
          <p:cNvSpPr/>
          <p:nvPr/>
        </p:nvSpPr>
        <p:spPr>
          <a:xfrm>
            <a:off x="1005840" y="2670048"/>
            <a:ext cx="10177272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MCP가 한물간 건 아닙니다  </a:t>
            </a:r>
            <a:pPr algn="ctr"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C8A15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스킬 · MCP · CLI를 상황에 따라 함께 씁니다</a:t>
            </a:r>
            <a:endParaRPr lang="en-US" sz="17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❓ 이해도 확인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566928" y="1133856"/>
            <a:ext cx="777240" cy="41148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4" name="Shape 2"/>
          <p:cNvSpPr/>
          <p:nvPr/>
        </p:nvSpPr>
        <p:spPr>
          <a:xfrm>
            <a:off x="612648" y="137160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6" name="Text 4"/>
          <p:cNvSpPr/>
          <p:nvPr/>
        </p:nvSpPr>
        <p:spPr>
          <a:xfrm>
            <a:off x="786384" y="137160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플러그인이 팀에서 특히 값진 이유는?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" y="188518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85188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9" name="Text 7"/>
          <p:cNvSpPr/>
          <p:nvPr/>
        </p:nvSpPr>
        <p:spPr>
          <a:xfrm>
            <a:off x="786384" y="188518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A1.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잘하는 한 사람 머릿속에만 있던 세팅(스킬·MCP·명령·훅)을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한 번으로 모두의 것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만들고,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버전·롤백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된다.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" y="239877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398776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" y="239877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Ralph 루프가 상태를 '대화 기억'이 아니라 파일·git에 쌓는 이유는?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2648" y="2912364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912364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15" name="Text 13"/>
          <p:cNvSpPr/>
          <p:nvPr/>
        </p:nvSpPr>
        <p:spPr>
          <a:xfrm>
            <a:off x="786384" y="2912364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A2.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부패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대화가 길어지면 AI가 헤매기 때문. 파일에 두면 어느 바퀴에서 시작하든 같은 안내 파일을 근거로 삼는다.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2648" y="3425952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25952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18" name="Text 16"/>
          <p:cNvSpPr/>
          <p:nvPr/>
        </p:nvSpPr>
        <p:spPr>
          <a:xfrm>
            <a:off x="786384" y="3425952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2023년 AutoGPT와 Ralph의 결정적 차이는?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" y="3939540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48640" y="3939540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1" name="Text 19"/>
          <p:cNvSpPr/>
          <p:nvPr/>
        </p:nvSpPr>
        <p:spPr>
          <a:xfrm>
            <a:off x="786384" y="3939540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A3.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Ralph에는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멈출 기준(스펙)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파일에 쌓는 진행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있다. AutoGPT는 언제 멈출지 몰라 무한 반복했다.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12648" y="4453128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453128"/>
            <a:ext cx="64008" cy="431292"/>
          </a:xfrm>
          <a:prstGeom prst="rect">
            <a:avLst/>
          </a:prstGeom>
          <a:solidFill>
            <a:srgbClr val="3F6B5F"/>
          </a:solidFill>
          <a:ln/>
        </p:spPr>
      </p:sp>
      <p:sp>
        <p:nvSpPr>
          <p:cNvPr id="24" name="Text 22"/>
          <p:cNvSpPr/>
          <p:nvPr/>
        </p:nvSpPr>
        <p:spPr>
          <a:xfrm>
            <a:off x="786384" y="4453128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"MCP는 무거우니 무조건 피하라"가 왜 틀린 결론인가?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12648" y="4966716"/>
            <a:ext cx="11027664" cy="431292"/>
          </a:xfrm>
          <a:prstGeom prst="roundRect">
            <a:avLst>
              <a:gd name="adj" fmla="val 19081"/>
            </a:avLst>
          </a:prstGeom>
          <a:solidFill>
            <a:srgbClr val="FFFFFF"/>
          </a:solidFill>
          <a:ln w="12700">
            <a:solidFill>
              <a:srgbClr val="E3DAC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4966716"/>
            <a:ext cx="64008" cy="431292"/>
          </a:xfrm>
          <a:prstGeom prst="rect">
            <a:avLst/>
          </a:prstGeom>
          <a:solidFill>
            <a:srgbClr val="C8A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86384" y="4966716"/>
            <a:ext cx="10707624" cy="4312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A4.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툴 서치처럼 </a:t>
            </a:r>
            <a:pPr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도구가 무거운 부분을 덜어 주는 쪽으로</a:t>
            </a:r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2A272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발전하고 있고, 여럿이 쓰며 권한·기록이 중요한 환경에서는 MCP의 표준화된 관리가 여전히 강하다.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C4D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651760"/>
            <a:ext cx="106984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묶고 · 적고 · 쌓고 🧱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438912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4EDE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 도구 ⑤ — 여기까지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603504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DBAA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study-room · AIFFEL 학습 정리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2026-08-27T13:52:35Z</dcterms:created>
  <dcterms:modified xsi:type="dcterms:W3CDTF">2026-08-27T13:52:35Z</dcterms:modified>
</cp:coreProperties>
</file>