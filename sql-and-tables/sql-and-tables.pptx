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2 · AIFFEL_LMS · 데이터베이스 ③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 구경과 데이터의 모양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SQL은 거의 영어입니다 — 알아보는 정도면 충분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카페 사장님의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마디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"오늘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케이크 주문만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보고 싶어요"라고 했는데, 주문이 수백 건이라 눈으로 찾기 어렵습니다.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필요한 조건의 데이터만 골라 달라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 DB에 요청하는 말이 필요합니다.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829943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1829943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🗣️ 그 요청을 쓰는 언어가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 — 겁먹을 것 없습니다, 거의 영어 문장입니다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524887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3504" y="2634615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21792" y="2927223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 구경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047238" y="2524887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412998" y="2524887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67862" y="2634615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486150" y="2927223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표로 나누기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911596" y="2524887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277356" y="2524887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6B4D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32220" y="2634615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350508" y="2927223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색인 · 트랜잭션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775954" y="2524887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9141714" y="2524887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96578" y="2634615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9214866" y="2927223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정규화 · NoSQL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 한 줄 구경하기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SELECT · FROM · WHERE · 그리고 CRUD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274820" y="5486400"/>
            <a:ext cx="363931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74820" y="5486400"/>
            <a:ext cx="3639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SQL 구경과 데이터의 모양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줄만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읽어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봅시다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45720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457200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이름, 가격 FROM 상품 WHERE 분류 = '케이크';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75104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풀어 읽으면 이렇습니다 —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"상품 표에서(FROM 상품) 분류가 '케이크'인 것들의(WHERE) 이름과 가격을 줘(SELECT)."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433447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2579751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49808" y="2908935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SELECT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무엇을 ·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FROM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어디서 ·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WHERE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어떤 조건으로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77356" y="2433447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78524" y="2579751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느낌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78524" y="2908935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정말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영어 문장에 가깝습니다.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그래서 원래 이름이 "Structured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English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Query Language"였죠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넣고·고치고·지우기 — </a:t>
            </a:r>
            <a:pPr indent="0" marL="0">
              <a:buNone/>
            </a:pPr>
            <a:r>
              <a:rPr lang="en-US" sz="2400" b="1" dirty="0">
                <a:solidFill>
                  <a:srgbClr val="6B4D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단어만 바뀝니다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447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447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SELECT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꺼내 보기 (조회)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9676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8254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8254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9676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INSERT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새로 넣기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9062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9062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87752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UPDATE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고치기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95828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9869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9869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95828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DELETE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지우기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85876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385876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" y="385876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🔁 이 네 가지를 묶어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CRUD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(만들기·읽기·고치기·지우기)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대부분의 서비스는 결국 이 네 동작의 반복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4553712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외울 필요는 없습니다.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실제 SQL은 AI가 써 줍니다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목업 데이터의 "이름표-값"을 알아봤던 것처럼,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"이 표에서 뭘 꺼내는(넣는) 거구나"를 알아보는 정도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면 충분합니다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표로 생각하기 — 행, 열, 그리고 관계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쇼핑몰 데이터를 표 몇 개로 쪼개면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274820" y="5486400"/>
            <a:ext cx="363931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74820" y="5486400"/>
            <a:ext cx="3639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SQL 구경과 데이터의 모양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관계형 데이터베이스는 결국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82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82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 하나 = 한 종류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(예: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표)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87296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939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939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87296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행(row) = 한 건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(예: 딸기 케이크 하나)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02992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7096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7096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602992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열(column) = 항목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(예: 이름, 가격, 분류)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273552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그리고 표끼리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관계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잇습니다.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표는 "어떤 상품을 샀는지"를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표를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가리키는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방식으로 적습니다 — 정확히는 각 상품에 붙은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고유 번호(ID)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가리킵니다.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3731895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3731895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9" name="Text 17"/>
          <p:cNvSpPr/>
          <p:nvPr/>
        </p:nvSpPr>
        <p:spPr>
          <a:xfrm>
            <a:off x="786384" y="3731895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🔗 이 "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표로 나누고 관계로 잇기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"가 바로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관계형(relational)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이라는 이름의 뜻입니다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 보기 — 쇼핑몰 데이터를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 셋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덩어리로 뭉치면 이렇게 됩니다 —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i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"홍길동이 3월 2일에 초코케이크 2개를 12,000원에 샀고, 홍길동의 주소는 …"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주문이 100건이면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홍길동 주소가 100번 적힙니다.</a:t>
            </a:r>
            <a:endParaRPr lang="en-US" sz="13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9943"/>
          <a:ext cx="11091672" cy="1536192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담는 것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예시 한 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사람 정보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1번 · 홍길동 · 서울…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파는 것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7번 · 초코케이크 · 12,000원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언제 누가 무엇을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55번 · 1번 회원 · 7번 상품 · 2개 · 3/2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3512439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핵심은 주문 표가 이름·주소를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다시 적지 않고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"1번 회원"이라고만 가리키는 것 — 주소가 바뀌면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 표 한 곳만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고치면 끝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표를 잇는 이 '번호'를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키(key)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라고 부릅니다 — 표와 표를 잇는 고리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일대다(1:N)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한쪽이 여러 개를 가진다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 1명은 주문을 여러 건 남기지만, 주문 1건은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회원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것입니다. 이럴 땐 '주문' 표에 "누구의 주문인지"를 가리키는 칸(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 번호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 하나만 넣으면 끝입니다.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976247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모양의 예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49808" y="2305431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블로그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 1개 ↔ 댓글 여러 개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유튜브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채널 1개 ↔ 영상 여러 개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77356" y="1829943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78524" y="1976247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78524" y="2305431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'여러 개' 쪽 표에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상대를 가리키는 칸 하나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둔다. 그게 전부다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844927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2844927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" y="2844927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1:N은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칸 하나로 해결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됩니다 — 새 표가 필요 없습니다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다대다(N:M) —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 표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필요합니다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 1명은 여러 수업을 듣고, 수업 1개도 여러 학생이 듣습니다. 이건 양쪽 표 어디에도 상대를 다 적을 수 없습니다 —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칸에 여러 개를 욱여넣으면 검색이 깨집니다.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1939671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21792" y="2232279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002024" y="1829943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367784" y="1829943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22648" y="1939671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 표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440936" y="2232279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수강신청  학생번호 · 수업번호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821168" y="1829943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186928" y="1829943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41792" y="1939671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260080" y="2232279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3073527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'누가 어떤 수업을 듣는다'는 연결 표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하나 새로 만들어, 학생 번호와 수업 번호를 짝지어 한 줄씩 적습니다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그러면 N:M이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'연결 표를 사이에 둔 두 개의 1:N'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깔끔하게 풀립니다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48640" y="3936873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3936873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9" name="Text 17"/>
          <p:cNvSpPr/>
          <p:nvPr/>
        </p:nvSpPr>
        <p:spPr>
          <a:xfrm>
            <a:off x="786384" y="3936873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🧭 판단 감각 하나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"A 하나가 B 여럿을, 동시에 B 하나도 A 여럿을 갖나?"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그렇다면 N:M이라 중간 표가 필요하고, 한쪽만 여러 개면 1:N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DB는 왜 그렇게 빠를까 — 색인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 뒤 '찾아보기'와 같은 트릭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274820" y="5486400"/>
            <a:ext cx="363931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74820" y="5486400"/>
            <a:ext cx="3639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SQL 구경과 데이터의 모양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 뒤 </a:t>
            </a:r>
            <a:pPr indent="0" marL="0">
              <a:buNone/>
            </a:pPr>
            <a:r>
              <a:rPr lang="en-US" sz="2400" b="1" dirty="0">
                <a:solidFill>
                  <a:srgbClr val="6B4D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'찾아보기'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정답입니다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56921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두꺼운 전공책 맨 뒤에는 '찾아보기'가 있죠.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"삼투압 → 245쪽"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처럼요. 그 덕에 처음부터 한 장씩 넘기지 않고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바로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원하는 곳으로 갑니다. DB의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색인(index)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정확히 이겁니다.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87118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2233422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색인이 있으면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49808" y="2562606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자주 찾는 항목(이메일·상품명)에 색인을 만들어 두면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수백만 건에서도 순식간에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찾는다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77356" y="2087118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78524" y="2233422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❌ 색인이 없으면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78524" y="2562606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처음부터 전부 뒤집니다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그래서 느려지죠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3102102"/>
            <a:ext cx="11091672" cy="37680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비전공자가 외울 건 없습니다. "검색이 느려요" 싶을 때 AI에게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"자주 검색하는 항목에 색인을 넣어줘"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라고 하면 됩니다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그런데 색인은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공짜가 아닙니다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색인은 '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값 → 행 위치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'를 미리 정리해 둔 구조라 수백만 행에서도 몇 단계만에 원하는 행에 닿습니다. 대신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넣고 고칠 때마다 색인도 갱신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해야 하고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공간도 듭니다.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829943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1829943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⚖️ 빠른 DB는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색인이 많은 DB가 아니라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실제로 자주 쓰는 검색·정렬에 맞게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최소한만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거는 DB입니다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524887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비전공자 실전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AI에게 "색인 넣어줘"만 하지 말고, 먼저 실제 화면의 질문을 문장으로 주세요.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983230"/>
            <a:ext cx="11091672" cy="667512"/>
          </a:xfrm>
          <a:prstGeom prst="roundRect">
            <a:avLst>
              <a:gd name="adj" fmla="val 6849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983230"/>
            <a:ext cx="54864" cy="66751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1" name="Text 9"/>
          <p:cNvSpPr/>
          <p:nvPr/>
        </p:nvSpPr>
        <p:spPr>
          <a:xfrm>
            <a:off x="768096" y="3074670"/>
            <a:ext cx="10707624" cy="4846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"사용자는 자기 주문만 최근순 20개 본다"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이 화면에 맞는 색인을 제안해 줘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계좌 이체가 '반쪽만' 되면 — 트랜잭션과 ACID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전부 되거나, 전부 안 되거나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274820" y="5486400"/>
            <a:ext cx="363931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74820" y="5486400"/>
            <a:ext cx="3639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SQL 구경과 데이터의 모양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 원이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증발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 순간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은행에서 A가 B에게 만 원을 보냅니다. 컴퓨터가 할 일은 둘입니다.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1939671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21792" y="2232279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A에서  만 원 빼기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002024" y="1829943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367784" y="1829943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A65A3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22648" y="1939671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정전!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440936" y="2232279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여기서 멈추면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821168" y="1829943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186928" y="1829943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41792" y="1939671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260080" y="2232279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B에  만 원 넣기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3073527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①을 하고 ②를 하기 직전에 정전이 나면?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돈은 사라졌는데 B는 못 받았습니다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데이터베이스는 이걸 막으려고 여러 동작을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하나의 묶음(트랜잭션)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처리합니다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48640" y="3936873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3936873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9" name="Text 17"/>
          <p:cNvSpPr/>
          <p:nvPr/>
        </p:nvSpPr>
        <p:spPr>
          <a:xfrm>
            <a:off x="786384" y="3936873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원칙은 딱 하나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"전부 되거나, 전부 안 되거나."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중간에 반쪽만 남는 일은 없습니다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가지 약속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ACID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447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447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원자성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반쪽 실행은 없다. 전부 아니면 전부 취소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9676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8254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8254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9676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일관성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규칙에 어긋난 상태로는 안 끝난다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9062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9062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87752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고립성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동시에 여러 명이 만져도 서로 꼬이지 않는다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95828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9869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9869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95828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지속성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한번 됐다고 하면, 정전이 나도 남아 있다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85876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385876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" y="385876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🧭 외울 건 없습니다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돈·주문·예약처럼 "틀리면 큰일"인 데이터는 이 성질이 강한 SQL DB가 안전하다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이 감만 있으면 충분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마지막 티켓 한 장을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동시에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눌렀다면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친구 둘이 마지막 티켓 한 장을 거의 동시에 누르면? 아무 규칙이 없으면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둘 다에게 팔릴 수 있습니다.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트랜잭션(여러 작업을 '전부 되거나 전부 안 되거나'로 묶기)이 이걸 막습니다.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829943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1829943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🗣️ 실전 요구 한 줄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"동시에 두 명이 마지막 하나를 요청하는 상황도 테스트하고 안전하게 처리해 줘"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524887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2671191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어디에 필요한가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49808" y="3000375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돈 · 재고 · 예약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처럼 '동시에 두 번' 눌릴 수 있는 곳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77356" y="2524887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78524" y="2671191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착각 금지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78524" y="3000375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ACID는 백업이 아닙니다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실수로 지운 걸 되돌려 주진 않습니다. 백업은 따로 챙겨야 합니다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정규화와 마이그레이션 — 정리정돈, 그리고 구조 바꾸기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걸 두 번 적지 않기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274820" y="5486400"/>
            <a:ext cx="363931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74820" y="5486400"/>
            <a:ext cx="3639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SQL 구경과 데이터의 모양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주소를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100군데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고쳐야 한다면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단골 손님의 주소가 바뀌었습니다. 그 손님의 주문 100건에 주소를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매번 따로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적어 뒀다면?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100군데를 다 고쳐야 하고, 하나라도 놓치면 데이터가 서로 안 맞게 됩니다.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829943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1829943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🧹 그래서 관계형 DB는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"같은 정보는 한 곳에만 적고, 나머지는 그걸 가리키게"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합니다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524887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손님 정보는 '회원 표'에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번만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두고, 주문 표에는 '몇 번 회원'이라고만 적습니다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주소가 바뀌면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 표 한 곳만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고치면 끝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이렇게 중복을 걷어내는 정리정돈을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정규화(normalization)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라고 부릅니다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372846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372846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1" name="Text 9"/>
          <p:cNvSpPr/>
          <p:nvPr/>
        </p:nvSpPr>
        <p:spPr>
          <a:xfrm>
            <a:off x="786384" y="372846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🧭 과제에서 데이터의 '모양'을 그릴 때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"이 정보, 여기저기 똑같이 적히고 있진 않나?"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한 번만 의심해 보세요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데이터가 커지면 생기는 일 —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색인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</a:t>
            </a:r>
            <a:pPr indent="0" marL="0">
              <a:buNone/>
            </a:pPr>
            <a:r>
              <a:rPr lang="en-US" sz="2400" b="1" dirty="0">
                <a:solidFill>
                  <a:srgbClr val="6B4D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마이그레이션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🐢 조회가 느려졌다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원하는 줄을 찾느라 수백만 줄을 처음부터 훑기 때문. 해법은 앞서 본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색인(인덱스)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🔧 표 구조를 바꿔야 한다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칸 추가·표 분리 등. 이미 데이터가 든 DB의 구조를 안전하게 바꾸는 작업이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마이그레이션(migration)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2615184"/>
            <a:ext cx="11091672" cy="37680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마이그레이션은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"DB 구조 변경을 Git처럼 이력으로 관리하는 것"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이라 생각하면 됩니다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되돌리기도 됩니다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3138297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3138297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" y="3138297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딱 하나만 기억 — 칸을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삭제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 변경은 그 안의 데이터가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영구히 사라질 수 있습니다.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구조를 바꾸기 전엔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반드시 백업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NoSQL도 한 종류가 아니다 — 네 가지 갈래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· 키-값 · 컬럼 · 그래프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274820" y="5486400"/>
            <a:ext cx="363931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74820" y="5486400"/>
            <a:ext cx="3639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SQL 구경과 데이터의 모양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갈래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성격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쓰는 곳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920240"/>
        </p:xfrm>
        <a:graphic>
          <a:graphicData uri="http://schemas.openxmlformats.org/drawingml/2006/table">
            <a:tbl>
              <a:tblPr/>
              <a:tblGrid>
                <a:gridCol w="2772918"/>
                <a:gridCol w="2772918"/>
                <a:gridCol w="2772918"/>
                <a:gridCol w="2772918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종류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줄 설명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어떤 곳에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문서 Document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JSON처럼 자유로운 덩어리로 저장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MongoDB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형태가 자주 바뀌는 데이터, 프로필·카탈로그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키-값 Key-Value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"이름표 → 값" 아주 단순·초고속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Redis, DynamoDB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장바구니·세션·캐시(빠른 임시 저장)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컬럼 Column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대량 분석에 강한 열 중심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Cassandra, HBase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로그·대규모 통계 분석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그래프 Graph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점과 선으로 '관계'를 저장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Neo4j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소셜 네트워크("친구의 친구")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438144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그래프 DB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"친구의 친구의 친구"처럼 연결을 따라가는 데 최적이라 소셜 네트워크가 즐겨 씁니다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키-값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너무 단순해서 오히려 엄청나게 빠르고, 그래서 쇼핑몰 장바구니 같은 데 쓰입니다</a:t>
            </a:r>
            <a:endParaRPr lang="en-US" sz="14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나는 뭘 쓰나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 기준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표로 잘 정리되고 관계가 분명하면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(사용자·주문·상품처럼) →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SQL(관계형)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형태가 자주 바뀌고 아주 대규모면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NoSQL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386584"/>
            <a:ext cx="11091672" cy="1150620"/>
          </a:xfrm>
          <a:prstGeom prst="roundRect">
            <a:avLst>
              <a:gd name="adj" fmla="val 11126"/>
            </a:avLst>
          </a:prstGeom>
          <a:solidFill>
            <a:srgbClr val="3F6B5F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386584"/>
            <a:ext cx="10177272" cy="1150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비전공자의 첫 서비스 기본값은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그중에서도 PostgreSQL이 무난합니다 — 자료가 가장 많고, 필요하면 유연한 형식도 지원해서 나중에 곤란해질 일이 적습니다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48640" y="3683508"/>
            <a:ext cx="11091672" cy="37680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물론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정답은 내 데이터의 모양에 달려 있습니다</a:t>
            </a:r>
            <a:endParaRPr lang="en-US" sz="14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❓ 미니 퀴즈 — 이 데이터, 어떻게 다룰까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사용자·주문·상품이 서로 관계로 얽힌 쇼핑몰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88617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88617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88617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SQL(관계형)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관계가 분명하고 정확성이 중요하다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05634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05634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05634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"친구의 친구"를 따라가는 소셜 관계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22651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22651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22651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그래프 NoSQL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(예: Neo4j)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39668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39668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39668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잠깐 쓰고 버리는 장바구니(초고속·단순)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" y="3956685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956685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3956685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키-값 NoSQL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(예: Redis)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❓ 미니 퀴즈 — 이 습관,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안전할까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사용자가 친 값을 명령문에 그대로 이어 붙인다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88617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88617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88617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 주입!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파라미터화로 처리해야 한다 (소단원 ⑤)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05634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05634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05634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비밀번호를 그대로(평문) 저장한다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22651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22651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22651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해시로. 야후 보이스의 교훈 (소단원 ④·⑤)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39668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39668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39668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Q6.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정기적으로 백업(자동 또는 직접)을 해 둔다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" y="3956685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956685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3956685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A6.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토이 스토리 2의 교훈 (소단원 ⑤)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 · 관계 · 안전 🧩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데이터베이스 ③ — 여기까지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2026-08-27T13:24:21Z</dcterms:created>
  <dcterms:modified xsi:type="dcterms:W3CDTF">2026-08-27T13:24:21Z</dcterms:modified>
</cp:coreProperties>
</file>