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C4D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19456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spc="300" kern="0" dirty="0">
                <a:solidFill>
                  <a:srgbClr val="CFE0D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대단원 5 · 에이전트 시스템 마스터 · 하네스 돌아보기 ⑨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31520" y="2651760"/>
            <a:ext cx="1069848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결과와 궤적을 분리해 검증하기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31520" y="4389120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rgbClr val="E4EDE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평가 루프 — 패치가 맞았다는 사실만으로는 구분되지 않는 것들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731520" y="603504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DBAA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study-room · AIFFEL 학습 정리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패치가 맞아도 </a:t>
            </a:r>
            <a:pPr indent="0" marL="0">
              <a:buNone/>
            </a:pPr>
            <a:r>
              <a:rPr lang="en-US" sz="2400" b="1" dirty="0">
                <a:solidFill>
                  <a:srgbClr val="A65A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구분되지 않는 것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1371600"/>
            <a:ext cx="3453384" cy="109728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22225">
            <a:solidFill>
              <a:srgbClr val="A65A3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03504" y="1481328"/>
            <a:ext cx="33436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621792" y="1773936"/>
            <a:ext cx="3307080" cy="60350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검색 낭비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4002024" y="1371600"/>
            <a:ext cx="3657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4367784" y="1371600"/>
            <a:ext cx="3453384" cy="109728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22225">
            <a:solidFill>
              <a:srgbClr val="A65A3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422648" y="1481328"/>
            <a:ext cx="33436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4440936" y="1773936"/>
            <a:ext cx="3307080" cy="60350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우연한 성공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7821168" y="1371600"/>
            <a:ext cx="3657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8186928" y="1371600"/>
            <a:ext cx="3453384" cy="109728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22225">
            <a:solidFill>
              <a:srgbClr val="A65A3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41792" y="1481328"/>
            <a:ext cx="33436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8260080" y="1773936"/>
            <a:ext cx="3307080" cy="60350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과도한 권한 사용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48640" y="2615184"/>
            <a:ext cx="11091672" cy="548640"/>
          </a:xfrm>
          <a:prstGeom prst="roundRect">
            <a:avLst>
              <a:gd name="adj" fmla="val 10000"/>
            </a:avLst>
          </a:prstGeom>
          <a:solidFill>
            <a:srgbClr val="F2EDE4"/>
          </a:solidFill>
          <a:ln/>
        </p:spPr>
      </p:sp>
      <p:sp>
        <p:nvSpPr>
          <p:cNvPr id="16" name="Shape 14"/>
          <p:cNvSpPr/>
          <p:nvPr/>
        </p:nvSpPr>
        <p:spPr>
          <a:xfrm>
            <a:off x="548640" y="2615184"/>
            <a:ext cx="54864" cy="548640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17" name="Text 15"/>
          <p:cNvSpPr/>
          <p:nvPr/>
        </p:nvSpPr>
        <p:spPr>
          <a:xfrm>
            <a:off x="786384" y="2615184"/>
            <a:ext cx="10707624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🎯 평가 루프는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최종 패치가 과업을 해결했는지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와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 결과에 이른 검색·편집·실행 궤적이 적절했는지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를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분리해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확인합니다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75504" y="1828800"/>
            <a:ext cx="1828800" cy="1828800"/>
          </a:xfrm>
          <a:prstGeom prst="roundRect">
            <a:avLst>
              <a:gd name="adj" fmla="val 15000"/>
            </a:avLst>
          </a:prstGeom>
          <a:solidFill>
            <a:srgbClr val="3F6B5F"/>
          </a:solidFill>
          <a:ln/>
        </p:spPr>
      </p:sp>
      <p:sp>
        <p:nvSpPr>
          <p:cNvPr id="3" name="Text 1"/>
          <p:cNvSpPr/>
          <p:nvPr/>
        </p:nvSpPr>
        <p:spPr>
          <a:xfrm>
            <a:off x="5175504" y="1828800"/>
            <a:ext cx="18288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914400" y="3931920"/>
            <a:ext cx="103327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구성요소와 결과를 따로 측정합니다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14400" y="4846320"/>
            <a:ext cx="10332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SWE-agent ablation · SWE-bench · Verified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914900" y="5486400"/>
            <a:ext cx="2359152" cy="457200"/>
          </a:xfrm>
          <a:prstGeom prst="roundRect">
            <a:avLst>
              <a:gd name="adj" fmla="val 50000"/>
            </a:avLst>
          </a:prstGeom>
          <a:solidFill>
            <a:srgbClr val="F2EDE4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914900" y="5486400"/>
            <a:ext cx="23591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⑨ 평가 루프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SWE-agent ACI ablation — </a:t>
            </a:r>
            <a:pPr indent="0" marL="0">
              <a:buNone/>
            </a:pPr>
            <a:r>
              <a:rPr lang="en-US" sz="2400" b="1" dirty="0">
                <a:solidFill>
                  <a:srgbClr val="3A5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구성요소를 바꿔 봅니다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371600"/>
            <a:ext cx="11091672" cy="312039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검색, 편집, 관측 형식처럼 </a:t>
            </a:r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인터페이스 구성요소를 바꾸고 결과를 비교</a:t>
            </a:r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할 수 있음을 보였습니다.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548640" y="1829943"/>
            <a:ext cx="11091672" cy="71704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  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모델이라도 —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무엇을 읽고 어떤 형식으로 행동했는지를 고정해야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구성요소의 기여를 물을 수 있습니다</a:t>
            </a:r>
            <a:endParaRPr lang="en-US" sz="14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  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결과는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SWE-bench Lite와 논문에 적힌 실행 조건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 결과입니다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548640" y="2693289"/>
            <a:ext cx="11091672" cy="548640"/>
          </a:xfrm>
          <a:prstGeom prst="roundRect">
            <a:avLst>
              <a:gd name="adj" fmla="val 10000"/>
            </a:avLst>
          </a:prstGeom>
          <a:solidFill>
            <a:srgbClr val="F2EDE4"/>
          </a:solidFill>
          <a:ln/>
        </p:spPr>
      </p:sp>
      <p:sp>
        <p:nvSpPr>
          <p:cNvPr id="7" name="Shape 5"/>
          <p:cNvSpPr/>
          <p:nvPr/>
        </p:nvSpPr>
        <p:spPr>
          <a:xfrm>
            <a:off x="548640" y="2693289"/>
            <a:ext cx="54864" cy="548640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2693289"/>
            <a:ext cx="10707624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⚠️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A65A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다른 모델이나 저장소에서도 같은 구성요소가 같은 기여를 한다고 해석해서는 안 됩니다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SWE-bench — </a:t>
            </a:r>
            <a:pPr indent="0" marL="0">
              <a:buNone/>
            </a:pPr>
            <a:r>
              <a:rPr lang="en-US" sz="24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기반</a:t>
            </a:r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채점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371600"/>
            <a:ext cx="11091672" cy="312039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</a:t>
            </a:r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GitHub 이슈와 저장소</a:t>
            </a:r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 코딩 에이전트를 측정하는 벤치마크입니다.</a:t>
            </a:r>
            <a:endParaRPr lang="en-US" sz="13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29943"/>
          <a:ext cx="11091672" cy="1920240"/>
        </p:xfrm>
        <a:graphic>
          <a:graphicData uri="http://schemas.openxmlformats.org/drawingml/2006/table">
            <a:tbl>
              <a:tblPr/>
              <a:tblGrid>
                <a:gridCol w="5545836"/>
                <a:gridCol w="5545836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규모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12개 Python 저장소 · 2,294개 문제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채점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FAIL_TO_PASS와 PASS_TO_PASS 테스트로 최종 패치를 채점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의의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문제를 푸는 루프와 채점하는 루프를 구분할 근거를 제공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한계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테스트 통과 ≠ 유지보수 품질 전체, 정적 문제에는 contamination 위험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SWE-bench Verified — </a:t>
            </a:r>
            <a:pPr indent="0" marL="0">
              <a:buNone/>
            </a:pPr>
            <a:r>
              <a:rPr lang="en-US" sz="2400" b="1" dirty="0">
                <a:solidFill>
                  <a:srgbClr val="6B4D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인간 검증 500문제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371600"/>
            <a:ext cx="11091672" cy="71704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  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12개 저장소에서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인간이 검증한 500개 문제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를 제공하는 공식 데이터셋 카드</a:t>
            </a:r>
            <a:endParaRPr lang="en-US" sz="14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 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사후 PR 테스트 행동을 정답 대리물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 둡니다 —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450" b="1" dirty="0">
                <a:solidFill>
                  <a:srgbClr val="A65A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검수자 수와 합의 절차는 확인하지 못했습니다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548640" y="2234946"/>
            <a:ext cx="11091672" cy="914400"/>
          </a:xfrm>
          <a:prstGeom prst="roundRect">
            <a:avLst>
              <a:gd name="adj" fmla="val 14000"/>
            </a:avLst>
          </a:prstGeom>
          <a:solidFill>
            <a:srgbClr val="3F6B5F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234946"/>
            <a:ext cx="10177272" cy="9144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등급은 </a:t>
            </a:r>
            <a:pPr algn="ctr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C8A1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해결 가능성 검토의 근거</a:t>
            </a:r>
            <a:pPr algn="ctr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이며  특정 하네스가 더 낫다는 근거는 아닙니다</a:t>
            </a:r>
            <a:endParaRPr lang="en-US" sz="1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75504" y="1828800"/>
            <a:ext cx="1828800" cy="1828800"/>
          </a:xfrm>
          <a:prstGeom prst="roundRect">
            <a:avLst>
              <a:gd name="adj" fmla="val 15000"/>
            </a:avLst>
          </a:prstGeom>
          <a:solidFill>
            <a:srgbClr val="3F6B5F"/>
          </a:solidFill>
          <a:ln/>
        </p:spPr>
      </p:sp>
      <p:sp>
        <p:nvSpPr>
          <p:cNvPr id="3" name="Text 1"/>
          <p:cNvSpPr/>
          <p:nvPr/>
        </p:nvSpPr>
        <p:spPr>
          <a:xfrm>
            <a:off x="5175504" y="1828800"/>
            <a:ext cx="18288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914400" y="3931920"/>
            <a:ext cx="103327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SWE-agent를 평가 기능으로 다시 봅니다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14400" y="4846320"/>
            <a:ext cx="10332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실행 단위에 무엇이 남는가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914900" y="5486400"/>
            <a:ext cx="2359152" cy="457200"/>
          </a:xfrm>
          <a:prstGeom prst="roundRect">
            <a:avLst>
              <a:gd name="adj" fmla="val 50000"/>
            </a:avLst>
          </a:prstGeom>
          <a:solidFill>
            <a:srgbClr val="F2EDE4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914900" y="5486400"/>
            <a:ext cx="23591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⑨ 평가 루프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실행 단위에 </a:t>
            </a:r>
            <a:pPr indent="0" marL="0">
              <a:buNone/>
            </a:pPr>
            <a:r>
              <a:rPr lang="en-US" sz="2400" b="1" dirty="0">
                <a:solidFill>
                  <a:srgbClr val="3A5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 가지</a:t>
            </a:r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를 남깁니다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949452"/>
        </p:xfrm>
        <a:graphic>
          <a:graphicData uri="http://schemas.openxmlformats.org/drawingml/2006/table">
            <a:tbl>
              <a:tblPr/>
              <a:tblGrid>
                <a:gridCol w="3697224"/>
                <a:gridCol w="3697224"/>
                <a:gridCol w="3697224"/>
              </a:tblGrid>
              <a:tr h="47472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기능 재조명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확인할 기록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1차 근거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</a:tr>
              <a:tr h="47472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SWE-agent 평가 루프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문제 설명·저장소 · trajectory · patch · 테스트 결과를 같은 실행 단위에 남겨 결과와 경로를 함께 검토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SWE-agent 공개 저장소와 실행 기록, ACI 논문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2467356"/>
            <a:ext cx="11091672" cy="548640"/>
          </a:xfrm>
          <a:prstGeom prst="roundRect">
            <a:avLst>
              <a:gd name="adj" fmla="val 10000"/>
            </a:avLst>
          </a:prstGeom>
          <a:solidFill>
            <a:srgbClr val="F2EDE4"/>
          </a:solidFill>
          <a:ln/>
        </p:spPr>
      </p:sp>
      <p:sp>
        <p:nvSpPr>
          <p:cNvPr id="6" name="Shape 3"/>
          <p:cNvSpPr/>
          <p:nvPr/>
        </p:nvSpPr>
        <p:spPr>
          <a:xfrm>
            <a:off x="548640" y="2467356"/>
            <a:ext cx="54864" cy="548640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7" name="Text 4"/>
          <p:cNvSpPr/>
          <p:nvPr/>
        </p:nvSpPr>
        <p:spPr>
          <a:xfrm>
            <a:off x="786384" y="2467356"/>
            <a:ext cx="10707624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📌 네 가지가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실행 단위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 있어야 — "이 패치는 어떤 경로로 나왔는가"를 되짚을 수 있습니다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trajectory가 </a:t>
            </a:r>
            <a:pPr indent="0" marL="0">
              <a:buNone/>
            </a:pPr>
            <a:r>
              <a:rPr lang="en-US" sz="24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하는 일</a:t>
            </a:r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 </a:t>
            </a:r>
            <a:pPr indent="0" marL="0">
              <a:buNone/>
            </a:pPr>
            <a:r>
              <a:rPr lang="en-US" sz="2400" b="1" dirty="0">
                <a:solidFill>
                  <a:srgbClr val="A65A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못 하는 일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1371600"/>
            <a:ext cx="5362956" cy="109728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49808" y="1517904"/>
            <a:ext cx="49606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❌ 못 하는 일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749808" y="1847088"/>
            <a:ext cx="4960620" cy="2743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b="1" dirty="0">
                <a:solidFill>
                  <a:srgbClr val="A65A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모델의 의도나 패치의 정답성을 스스로 증명하지 못합니다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77356" y="1371600"/>
            <a:ext cx="5362956" cy="109728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78524" y="1517904"/>
            <a:ext cx="49606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✅ 하는 일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6478524" y="1847088"/>
            <a:ext cx="4960620" cy="47625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1차 근거로 남깁니다</a:t>
            </a:r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어느 검색이 먼저였는지, 테스트 실패 뒤 무엇을 편집했는지, 어떤 명령이 실행됐는지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48640" y="2615184"/>
            <a:ext cx="11091672" cy="376809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  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기록에서 다시 확인할 것 —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행동을 바꾼 관측이었는지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A65A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탐색을 반복했는지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450" b="1" dirty="0">
                <a:solidFill>
                  <a:srgbClr val="A65A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승인한 권한이 과도했는지</a:t>
            </a:r>
            <a:endParaRPr lang="en-US" sz="14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통과 결과만으로는 </a:t>
            </a:r>
            <a:pPr indent="0" marL="0">
              <a:buNone/>
            </a:pPr>
            <a:r>
              <a:rPr lang="en-US" sz="2400" b="1" dirty="0">
                <a:solidFill>
                  <a:srgbClr val="A65A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충분하지 않습니다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371600"/>
            <a:ext cx="11091672" cy="569214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정적 벤치마크의 테스트 통과는 </a:t>
            </a:r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b="1" dirty="0">
                <a:solidFill>
                  <a:srgbClr val="A65A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장기 유지보수 · 설명 가능성 · 코드 검토 · 의존성 변화 대응</a:t>
            </a:r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을 모두 재지 못합니다. 공개된 문제와 해답이 </a:t>
            </a:r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학습 또는 도구 설정에 섞였을 가능성</a:t>
            </a:r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 비교를 흐릴 수 있습니다.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2087118"/>
            <a:ext cx="11091672" cy="516636"/>
          </a:xfrm>
          <a:prstGeom prst="roundRect">
            <a:avLst>
              <a:gd name="adj" fmla="val 15929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76656" y="2189988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3F6B5F"/>
          </a:solidFill>
          <a:ln/>
        </p:spPr>
      </p:sp>
      <p:sp>
        <p:nvSpPr>
          <p:cNvPr id="7" name="Text 5"/>
          <p:cNvSpPr/>
          <p:nvPr/>
        </p:nvSpPr>
        <p:spPr>
          <a:xfrm>
            <a:off x="676656" y="2189988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115568" y="2087118"/>
            <a:ext cx="10378440" cy="51663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 점수</a:t>
            </a:r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와 함께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48640" y="2695194"/>
            <a:ext cx="11091672" cy="516636"/>
          </a:xfrm>
          <a:prstGeom prst="roundRect">
            <a:avLst>
              <a:gd name="adj" fmla="val 15929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76656" y="2798064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3F6B5F"/>
          </a:solidFill>
          <a:ln/>
        </p:spPr>
      </p:sp>
      <p:sp>
        <p:nvSpPr>
          <p:cNvPr id="11" name="Text 9"/>
          <p:cNvSpPr/>
          <p:nvPr/>
        </p:nvSpPr>
        <p:spPr>
          <a:xfrm>
            <a:off x="676656" y="2798064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115568" y="2695194"/>
            <a:ext cx="10378440" cy="51663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환경 · 모델 · 권한 정책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48640" y="3303270"/>
            <a:ext cx="11091672" cy="516636"/>
          </a:xfrm>
          <a:prstGeom prst="roundRect">
            <a:avLst>
              <a:gd name="adj" fmla="val 15929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76656" y="3406140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3F6B5F"/>
          </a:solidFill>
          <a:ln/>
        </p:spPr>
      </p:sp>
      <p:sp>
        <p:nvSpPr>
          <p:cNvPr id="15" name="Text 13"/>
          <p:cNvSpPr/>
          <p:nvPr/>
        </p:nvSpPr>
        <p:spPr>
          <a:xfrm>
            <a:off x="676656" y="3406140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115568" y="3303270"/>
            <a:ext cx="10378440" cy="51663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비용 · 승인 횟수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48640" y="3911346"/>
            <a:ext cx="11091672" cy="516636"/>
          </a:xfrm>
          <a:prstGeom prst="roundRect">
            <a:avLst>
              <a:gd name="adj" fmla="val 15929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76656" y="4014216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3F6B5F"/>
          </a:solidFill>
          <a:ln/>
        </p:spPr>
      </p:sp>
      <p:sp>
        <p:nvSpPr>
          <p:cNvPr id="19" name="Text 17"/>
          <p:cNvSpPr/>
          <p:nvPr/>
        </p:nvSpPr>
        <p:spPr>
          <a:xfrm>
            <a:off x="676656" y="4014216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1115568" y="3911346"/>
            <a:ext cx="10378440" cy="51663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trajectory</a:t>
            </a:r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를 남기고 </a:t>
            </a:r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검토를 별도로</a:t>
            </a:r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합니다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48640" y="4574286"/>
            <a:ext cx="11091672" cy="548640"/>
          </a:xfrm>
          <a:prstGeom prst="roundRect">
            <a:avLst>
              <a:gd name="adj" fmla="val 10000"/>
            </a:avLst>
          </a:prstGeom>
          <a:solidFill>
            <a:srgbClr val="F2EDE4"/>
          </a:solidFill>
          <a:ln/>
        </p:spPr>
      </p:sp>
      <p:sp>
        <p:nvSpPr>
          <p:cNvPr id="22" name="Shape 20"/>
          <p:cNvSpPr/>
          <p:nvPr/>
        </p:nvSpPr>
        <p:spPr>
          <a:xfrm>
            <a:off x="548640" y="4574286"/>
            <a:ext cx="54864" cy="548640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23" name="Text 21"/>
          <p:cNvSpPr/>
          <p:nvPr/>
        </p:nvSpPr>
        <p:spPr>
          <a:xfrm>
            <a:off x="786384" y="4574286"/>
            <a:ext cx="10707624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❓ 남은 질문 —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6B4D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어떤 trajectory 신호가 좋은 하네스를 가리는지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는 아직 열려 있습니다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❓ 이해도 확인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Shape 2"/>
          <p:cNvSpPr/>
          <p:nvPr/>
        </p:nvSpPr>
        <p:spPr>
          <a:xfrm>
            <a:off x="612648" y="1371600"/>
            <a:ext cx="11027664" cy="434721"/>
          </a:xfrm>
          <a:prstGeom prst="roundRect">
            <a:avLst>
              <a:gd name="adj" fmla="val 18931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371600"/>
            <a:ext cx="64008" cy="434721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6" name="Text 4"/>
          <p:cNvSpPr/>
          <p:nvPr/>
        </p:nvSpPr>
        <p:spPr>
          <a:xfrm>
            <a:off x="786384" y="1371600"/>
            <a:ext cx="10707624" cy="434721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Q1.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결과와 궤적을 왜 분리하나?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12648" y="1888617"/>
            <a:ext cx="11027664" cy="434721"/>
          </a:xfrm>
          <a:prstGeom prst="roundRect">
            <a:avLst>
              <a:gd name="adj" fmla="val 18931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888617"/>
            <a:ext cx="64008" cy="434721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9" name="Text 7"/>
          <p:cNvSpPr/>
          <p:nvPr/>
        </p:nvSpPr>
        <p:spPr>
          <a:xfrm>
            <a:off x="786384" y="1888617"/>
            <a:ext cx="10707624" cy="434721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A1.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패치가 맞았다는 사실만으로는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검색 낭비 · 우연한 성공 · 과도한 권한 사용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을 구분할 수 없기 때문.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12648" y="2405634"/>
            <a:ext cx="11027664" cy="434721"/>
          </a:xfrm>
          <a:prstGeom prst="roundRect">
            <a:avLst>
              <a:gd name="adj" fmla="val 18931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405634"/>
            <a:ext cx="64008" cy="434721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12" name="Text 10"/>
          <p:cNvSpPr/>
          <p:nvPr/>
        </p:nvSpPr>
        <p:spPr>
          <a:xfrm>
            <a:off x="786384" y="2405634"/>
            <a:ext cx="10707624" cy="434721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Q2.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trajectory가 증명하는 것과 증명하지 않는 것은?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12648" y="2922651"/>
            <a:ext cx="11027664" cy="434721"/>
          </a:xfrm>
          <a:prstGeom prst="roundRect">
            <a:avLst>
              <a:gd name="adj" fmla="val 18931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2922651"/>
            <a:ext cx="64008" cy="434721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15" name="Text 13"/>
          <p:cNvSpPr/>
          <p:nvPr/>
        </p:nvSpPr>
        <p:spPr>
          <a:xfrm>
            <a:off x="786384" y="2922651"/>
            <a:ext cx="10707624" cy="434721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A2.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모델의 의도나 패치의 정답성은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증명하지 못한다.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다만 검색 순서·편집 시점·실행 명령을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1차 근거로 남긴다.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12648" y="3439668"/>
            <a:ext cx="11027664" cy="434721"/>
          </a:xfrm>
          <a:prstGeom prst="roundRect">
            <a:avLst>
              <a:gd name="adj" fmla="val 18931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3439668"/>
            <a:ext cx="64008" cy="434721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18" name="Text 16"/>
          <p:cNvSpPr/>
          <p:nvPr/>
        </p:nvSpPr>
        <p:spPr>
          <a:xfrm>
            <a:off x="786384" y="3439668"/>
            <a:ext cx="10707624" cy="434721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Q3.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SWE-bench Verified 등급이 뜻하는 것은?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12648" y="3956685"/>
            <a:ext cx="11027664" cy="434721"/>
          </a:xfrm>
          <a:prstGeom prst="roundRect">
            <a:avLst>
              <a:gd name="adj" fmla="val 18931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48640" y="3956685"/>
            <a:ext cx="64008" cy="434721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21" name="Text 19"/>
          <p:cNvSpPr/>
          <p:nvPr/>
        </p:nvSpPr>
        <p:spPr>
          <a:xfrm>
            <a:off x="786384" y="3956685"/>
            <a:ext cx="10707624" cy="434721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A3.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해결 가능성 검토의 근거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 뿐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특정 하네스가 낫다는 근거가 아니다.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사후 PR 테스트 행동을 정답 대리물로 삼는다.</a:t>
            </a:r>
            <a:endParaRPr lang="en-US" sz="12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2C4D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651760"/>
            <a:ext cx="1069848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결과와 경로를 따로 봅니다 🧾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731520" y="4389120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rgbClr val="E4EDE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에이전트 하네스 돌아보기 ⑨ — 여기까지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731520" y="603504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DBAA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study-room · AIFFEL 학습 정리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2026-09-02T03:45:18Z</dcterms:created>
  <dcterms:modified xsi:type="dcterms:W3CDTF">2026-09-02T03:45:18Z</dcterms:modified>
</cp:coreProperties>
</file>