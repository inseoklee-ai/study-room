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300" kern="0" dirty="0">
                <a:solidFill>
                  <a:srgbClr val="CFE0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대단원 4 · 거대 언어모델과 프롬프트 · ⑨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에이전트 설계 패턴과 복잡도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실패가 증명할 때만 다음 복잡도로 — 그리고 강의 전체를 한 줄로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🗺️ 오늘의 여정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2498598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A5A8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3504" y="1481328"/>
            <a:ext cx="23888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1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21792" y="1773936"/>
            <a:ext cx="2352294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복잡도의 사다리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047238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3412998" y="1371600"/>
            <a:ext cx="2498598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F6B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67862" y="1481328"/>
            <a:ext cx="23888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2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486150" y="1773936"/>
            <a:ext cx="2352294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복잡도 ≠ 성능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911596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277356" y="1371600"/>
            <a:ext cx="2498598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C8A15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2220" y="1481328"/>
            <a:ext cx="23888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3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350508" y="1773936"/>
            <a:ext cx="2352294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비용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775954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9141714" y="1371600"/>
            <a:ext cx="2498598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6B4D8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96578" y="1481328"/>
            <a:ext cx="23888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마무리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9214866" y="1773936"/>
            <a:ext cx="2352294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줄로 꿰기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48640" y="2615184"/>
            <a:ext cx="11091672" cy="13975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구조의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0~3단계 사다리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단일 호출 · 연결된 흐름 · 평가자-수정자 루프 · 자율 에이전트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단계의 실례와, 다음 단계로 올라갈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이탈 신호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복잡도는 성능과 같은 축이 아니다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작은 하네스와 벤더 수치를 읽는 법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비용도 설계의 일부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그리고 강의 전체를 한 문장으로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548640" y="4158996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21" name="Shape 19"/>
          <p:cNvSpPr/>
          <p:nvPr/>
        </p:nvSpPr>
        <p:spPr>
          <a:xfrm>
            <a:off x="548640" y="4158996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22" name="Text 20"/>
          <p:cNvSpPr/>
          <p:nvPr/>
        </p:nvSpPr>
        <p:spPr>
          <a:xfrm>
            <a:off x="786384" y="4158996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오늘의 한 문장 — 구조는 이름·유행이 아니라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실패 증거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고른다.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복잡도의 사다리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순위표가 아니라, 실패 증거로 고르는 구조의 범위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122676" y="5486400"/>
            <a:ext cx="5943600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122676" y="548640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단일 호출 · 연결된 흐름 · 평가자-수정자 루프 · 자율 에이전트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🧭 질문은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"써야 하는가"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아니다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105727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중요한 질문 = "에이전트를 써야 하는가"가 아니라 —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 성공 기준을 못 채우는 원인이 무엇이며, 그 원인을 줄이려면 어느 정도의 구조가 필요한가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복잡한 구조는 기능을 더하지만 동시에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비용·지연·실패 경로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늘린다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호출이 늘면 어느 단계가 틀렸는지 추적해야 하고, 도구 권한이 늘면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경계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 설계해야 한다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575179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575179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5"/>
          <p:cNvSpPr/>
          <p:nvPr/>
        </p:nvSpPr>
        <p:spPr>
          <a:xfrm>
            <a:off x="786384" y="2575179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사다리는 높은 단계가 더 좋은 설계라는 순위가 아니라,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실패 증거에 따라 선택할 구조의 범위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🪜 복잡도 사다리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0~3단계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2498598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8A837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3504" y="1481328"/>
            <a:ext cx="23888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0단계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21792" y="1773936"/>
            <a:ext cx="2352294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단일 호출  + 좋은 지시·맥락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047238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3412998" y="1371600"/>
            <a:ext cx="2498598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A5A8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67862" y="1481328"/>
            <a:ext cx="23888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1단계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486150" y="1773936"/>
            <a:ext cx="2352294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연결된 흐름  체인·라우팅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911596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277356" y="1371600"/>
            <a:ext cx="2498598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C8A15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2220" y="1481328"/>
            <a:ext cx="23888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2단계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350508" y="1773936"/>
            <a:ext cx="2352294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평가자-수정자  루프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775954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9141714" y="1371600"/>
            <a:ext cx="2498598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F6B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96578" y="1481328"/>
            <a:ext cx="23888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3단계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9214866" y="1773936"/>
            <a:ext cx="2352294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자율 에이전트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2615184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20" name="Shape 18"/>
          <p:cNvSpPr/>
          <p:nvPr/>
        </p:nvSpPr>
        <p:spPr>
          <a:xfrm>
            <a:off x="548640" y="2615184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21" name="Text 19"/>
          <p:cNvSpPr/>
          <p:nvPr/>
        </p:nvSpPr>
        <p:spPr>
          <a:xfrm>
            <a:off x="786384" y="2615184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지시·맥락은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단계의 기초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도구는 외부 사실 확인·상태 변경 때 행동 공간을 넓히고, 루프는 결과를 관찰해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멈춤·재시도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정한다.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📋 각 단계는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언제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고르나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2282952"/>
        </p:xfrm>
        <a:graphic>
          <a:graphicData uri="http://schemas.openxmlformats.org/drawingml/2006/table">
            <a:tbl>
              <a:tblPr/>
              <a:tblGrid>
                <a:gridCol w="3697224"/>
                <a:gridCol w="3697224"/>
                <a:gridCol w="3697224"/>
              </a:tblGrid>
              <a:tr h="45659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단계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무엇을 하나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필요 증거 (올라갈 근거)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45659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 · 단일 호출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입력 하나 → 결과 하나, 후속 행동 불필요 (분류·요약·형식 변환)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대표 입력·통과 기준으로 확인. 검색·예시도 이 단계의 입력 개선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659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 · 연결된 흐름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 호출 출력을 다음 입력으로, 또는 입력 유형에 따라 경로 선택 (코드가 순서를 정함)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여러 산출물을 순서대로 만들어야 하거나, 유형마다 다른 전문 맥락이 필요하다는 관찰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659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 · 평가자-수정자 루프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결과를 평가하고 기준 미달이면 피드백과 함께 재생성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무엇을 검사하는지·통과와 중단·최대 시도 횟수가 정해짐. 자동 검사 가능한 과업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659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 · 자율 에이전트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모델이 도구 호출·탐색 순서·다음 단계를 어느 정도 선택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단계 수·정보원을 미리 예측하기 어렵다는 증거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800856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3800856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4"/>
          <p:cNvSpPr/>
          <p:nvPr/>
        </p:nvSpPr>
        <p:spPr>
          <a:xfrm>
            <a:off x="786384" y="3800856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2단계는 "더 잘해 봐"가 아니라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기계적 확인 기준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먼저다. 3단계의 자율성 ≠ 통제 없음 — 예산·시간·승인 지점·종료 조건을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하네스가 정한다.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🛠️ 각 단계의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실례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571881"/>
          </a:xfrm>
          <a:prstGeom prst="roundRect">
            <a:avLst>
              <a:gd name="adj" fmla="val 14390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502093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502093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57188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문의 분류·회의록 요약·자유서술→JSON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"세 레이블 중 하나 출력, 근거 문장 인용" 지시면 결과를 받음. 흔들린다고 곧바로 검토자를 붙이지 말고 레이블 정의 중복·원문 누락부터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034921"/>
            <a:ext cx="11091672" cy="571881"/>
          </a:xfrm>
          <a:prstGeom prst="roundRect">
            <a:avLst>
              <a:gd name="adj" fmla="val 14390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165414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16541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2034921"/>
            <a:ext cx="10378440" cy="57188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초안 → 검토 → 수정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검토는 초안 없이, 수정은 검토 없이 불가. 중요한 건 세 번 부른 사실이 아니라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입력의 연결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698242"/>
            <a:ext cx="11091672" cy="571881"/>
          </a:xfrm>
          <a:prstGeom prst="roundRect">
            <a:avLst>
              <a:gd name="adj" fmla="val 14390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2828735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2828735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5568" y="2698242"/>
            <a:ext cx="10378440" cy="57188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테스트 통과까지 코드 수정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모델 수정안 → 테스트 러너가 실패 이름·메시지·종료 상태 반환 → 다음 수정. 평가는 자기 칭찬이 아니라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기계가 검사할 신호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361563"/>
            <a:ext cx="11091672" cy="571881"/>
          </a:xfrm>
          <a:prstGeom prst="roundRect">
            <a:avLst>
              <a:gd name="adj" fmla="val 14390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349205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676656" y="349205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15568" y="3361563"/>
            <a:ext cx="10378440" cy="57188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저장소 실패 원인 찾기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로그 읽고 관련 파일 열지·테스트 재현할지·문서 검색할지를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관측에 따라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권한·범위·승인·중단 조건 명시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🚦 다음 단계로 가는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이탈 신호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47828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47828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0→1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형식·사실을 다 줬는데 같은 유형에서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누락·근거 없는 답이 반복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→ 검토 단계를 붙인다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987296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09397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09397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1→2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1987296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앞 오류가 그대로 전달되고,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검사 결과가 있어야 수정 판정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가능하다 → 루프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602992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270967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270967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2→3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5568" y="2602992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고정 루프로 예외마다 도구·순서를 미리 못 정하고,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관측에 따라 탐색·실행·중단을 선택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해야 한다는 기록이 쌓임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273552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3273552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273552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어느 단계든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실패의 이름·빈도, 추가한 조건, 그 조건이 줄인 실패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함께 남기지 않으면 사다리를 오른 근거가 없다.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복잡도 ≠ 성능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짧은 코드가 높은 점수를, 높은 점수가 곧 내 업무는 아니다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26764" y="5486400"/>
            <a:ext cx="4535424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26764" y="5486400"/>
            <a:ext cx="45354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mini-SWE-agent · 벤더 벤치마크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🧱 작은 하네스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mini-SWE-agent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105727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100줄 최소 구성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 파일을 읽고 수정한 뒤 검증 명령을 실행하는 mini-SWE-agent가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높은 Verified 성능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보인 사례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복잡도와 성능을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축에 놓을 수 없다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중요한 건 짧은 코드 자체가 아니라 —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과업에 필요한 도구·명령·검사 결과가 빠짐없이 연결됐는가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575179"/>
            <a:ext cx="11091672" cy="1150620"/>
          </a:xfrm>
          <a:prstGeom prst="roundRect">
            <a:avLst>
              <a:gd name="adj" fmla="val 11126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575179"/>
            <a:ext cx="10177272" cy="1150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역할 분담·기억 버퍼를 더하기 전에 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실패한 변경을 확인할 테스트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와 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변경 범위를 제한하는 하네스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먼저복잡도를 더하는 것이 아니라, 필요한 연결이 빠졌는지를 먼저 본다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📊 벤더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벤치마크 수치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읽는 법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1333500"/>
        </p:xfrm>
        <a:graphic>
          <a:graphicData uri="http://schemas.openxmlformats.org/drawingml/2006/table">
            <a:tbl>
              <a:tblPr/>
              <a:tblGrid>
                <a:gridCol w="3697224"/>
                <a:gridCol w="3697224"/>
                <a:gridCol w="3697224"/>
              </a:tblGrid>
              <a:tr h="4445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출처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함께 읽어야 할 것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Codex 발표 · codex-1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72.1%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각각 벤더가 구성한 하네스·평가 조건에서 나온 수치. 저장소 상태·도구·시간 예산·Verified 판정 검사를 함께 읽어야 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Claude 4 System Card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72.5% · 72.7%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2851404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2851404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4"/>
          <p:cNvSpPr/>
          <p:nvPr/>
        </p:nvSpPr>
        <p:spPr>
          <a:xfrm>
            <a:off x="786384" y="2851404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"같은 모델도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입력·도구·루프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달라지면 다른 실행" — 이 원칙이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수치를 읽는 자리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에도 그대로 적용된다. 그래서 이 수치는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자신의 업무에 바로 옮길 수 없다.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비용도 설계의 일부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체감상 빨라 보이는 자동화와 실제 완료시간을 구분한다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954780" y="5486400"/>
            <a:ext cx="4279392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954780" y="5486400"/>
            <a:ext cx="4279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METR RCT · 되돌릴 수 있는 실험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⏱️ METR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체감과 실제는 다르다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105727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METR 무작위 대조실험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숙련 개발자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16명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20분~4시간짜리 이슈를 다룰 때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당시 도구 사용 조건이 평균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19% 더 오래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걸렸다고 보고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업무·이후 도구에 일반화할 순 없지만 — 강한 단서다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575179"/>
            <a:ext cx="11091672" cy="914400"/>
          </a:xfrm>
          <a:prstGeom prst="roundRect">
            <a:avLst>
              <a:gd name="adj" fmla="val 14000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575179"/>
            <a:ext cx="10177272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체감상 빨라 보이는 자동화와 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완료시간을 구분해 측정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하라METR RCT: 도구 사용 조건이 평균 19% 더 오래 걸렸다</a:t>
            </a:r>
            <a:endParaRPr lang="en-US" sz="1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🔄 사다리는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되돌릴 수 있는 실험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105727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사다리는 한 방향으로 쌓는 계획표가 아니다 — 추가한 검색·기억·재시도·자율 권한이 특정 실패를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못 줄이거나 비용·위험이 이익보다 크면 제거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 더 낮은 단계로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변경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전후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 성공률·오류 유형·토큰·대기시간·도구 실패·사람 개입을 비교하고,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제거 뒤 실패 재발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 확인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측정값을 한 줄로 줄이지 않기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해결률 하나만 남기면 비용·위험이 사라진다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575179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575179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5"/>
          <p:cNvSpPr/>
          <p:nvPr/>
        </p:nvSpPr>
        <p:spPr>
          <a:xfrm>
            <a:off x="786384" y="2575179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승인이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드문 예외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에만 몰려 있으면, 평균 자동화율은 그 예외의 피해를 설명하지 못한다. → 복잡도는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신념이 아니라 운영 기록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따라 움직인다.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📌 이것만은 꼭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4문장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47447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47447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사다리 0~3단계(단일 호출·연결된 흐름·평가자-수정자 루프·자율 에이전트)는 순위가 아니라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실패 증거로 고르는 범위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979676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08254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08254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1979676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복잡도 ≠ 성능 — 100줄 하네스가 높은 점수를, 벤더 72%대 수치가 곧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업무는 아니다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587752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269062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269062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5568" y="2587752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비용도 설계의 일부 —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체감(METR 19%)과 실제 완료시간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구분해 측정한다.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195828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329869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676656" y="329869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15568" y="3195828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사다리는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되돌릴 수 있는 실험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못 줄이면 제거하고, 측정값을 한 줄로 줄이지 않는다.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🧵 강의 전체를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줄로 꿰기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92572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A5A8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3504" y="1481328"/>
            <a:ext cx="181599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출발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21792" y="1773936"/>
            <a:ext cx="1779422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결과가 갈리는 장면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2474366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2840126" y="1371600"/>
            <a:ext cx="192572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F6B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94990" y="1481328"/>
            <a:ext cx="181599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나눔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913278" y="1773936"/>
            <a:ext cx="1779422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지시·맥락·도구·루프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765853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5131613" y="1371600"/>
            <a:ext cx="192572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C8A15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86477" y="1481328"/>
            <a:ext cx="181599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구조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204765" y="1773936"/>
            <a:ext cx="1779422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모델+하네스+루프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7057339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7423099" y="1371600"/>
            <a:ext cx="192572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6B4D8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77963" y="1481328"/>
            <a:ext cx="181599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경계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7496251" y="1773936"/>
            <a:ext cx="1779422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프롬프트=지시·맥락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9348826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9714586" y="1371600"/>
            <a:ext cx="192572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8A837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769450" y="1481328"/>
            <a:ext cx="181599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재검증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9787738" y="1773936"/>
            <a:ext cx="1779422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실패가 증명할 때만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48640" y="2615184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24" name="Shape 22"/>
          <p:cNvSpPr/>
          <p:nvPr/>
        </p:nvSpPr>
        <p:spPr>
          <a:xfrm>
            <a:off x="548640" y="2615184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25" name="Text 23"/>
          <p:cNvSpPr/>
          <p:nvPr/>
        </p:nvSpPr>
        <p:spPr>
          <a:xfrm>
            <a:off x="786384" y="2615184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기법의 변천을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만능 문구의 역사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아니라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바꿀 수 있는 조건의 확장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 읽는다. 효과 주장은 같은 시험 입력·성공 기준에서 재검증한다.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이해도 확인 질문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612648" y="137160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7160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복잡도 사다리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0~3단계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각각 무엇인가?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" y="189136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91360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189136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2단계 루프에서 "더 잘해 봐" 대신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먼저 정해야 할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세 가지는?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" y="241112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411120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41112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mini-SWE-agent 사례가 말하는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복잡도와 성능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 관계는?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" y="293088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930881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293088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Q4.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codex-1 72.1%, Claude 4 72.5·72.7% 같은 수치를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업무에 바로 옮기면 안 되는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이유는?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" y="345064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450641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45064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Q5.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METR 실험이 준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단서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와, 사다리가 "되돌릴 수 있는 실험"이라는 말의 뜻은?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정답 &amp; 해설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612648" y="137160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7160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단일 호출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(입력 하나→결과 하나) ·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연결된 흐름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(체인·라우팅, 코드가 순서를 정함) ·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평가자-수정자 루프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(검사 뒤 재생성) ·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자율 에이전트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(모델이 순서·다음 단계 선택).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" y="189136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91360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189136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무엇을 검사하는지 · 통과와 중단 · 최대 시도 횟수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기계적 확인 기준을 먼저 만들고 루프 전후 통과율·비용·지연을 비교한다.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" y="241112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411120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41112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약 100줄 하네스가 높은 Verified 성능을 낸 사례처럼,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복잡도와 성능은 같은 축이 아니다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중요한 건 도구·명령·검사 결과가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빠짐없이 연결됐는가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" y="293088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930881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293088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A4.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각각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벤더가 구성한 하네스·평가 조건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 산물이라, 저장소 상태·도구·시간 예산·판정 검사를 함께 읽어야 하기 때문. 자신의 대표 입력·성공 기준으로 재검증해야 한다.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" y="345064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450641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45064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A5.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도구 사용 조건이 평균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19% 더 오래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걸렸다는 단서 → 체감과 실제 완료시간을 구분해 측정. 사다리는 못 줄이면 제거해 내려올 수 있는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되돌릴 수 있는 실험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실패가 증명할 때만 🧭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거대 언어모델과 프롬프트 — 여기까지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2026-08-24T11:59:54Z</dcterms:created>
  <dcterms:modified xsi:type="dcterms:W3CDTF">2026-08-24T11:59:54Z</dcterms:modified>
</cp:coreProperties>
</file>